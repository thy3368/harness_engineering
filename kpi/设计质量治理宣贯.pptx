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7" r:id="rId2"/>
    <p:sldId id="15000720" r:id="rId3"/>
    <p:sldId id="15000721" r:id="rId4"/>
    <p:sldId id="15000722" r:id="rId5"/>
    <p:sldId id="15000723" r:id="rId6"/>
    <p:sldId id="15000724" r:id="rId7"/>
  </p:sldIdLst>
  <p:sldSz cx="9144000" cy="5143500" type="screen16x9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0059E9"/>
    <a:srgbClr val="08409C"/>
    <a:srgbClr val="47566C"/>
    <a:srgbClr val="36449C"/>
    <a:srgbClr val="B2CDF8"/>
    <a:srgbClr val="7FACF4"/>
    <a:srgbClr val="00B7FF"/>
    <a:srgbClr val="FA8738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69" autoAdjust="0"/>
    <p:restoredTop sz="95618" autoAdjust="0"/>
  </p:normalViewPr>
  <p:slideViewPr>
    <p:cSldViewPr showGuides="1">
      <p:cViewPr varScale="1">
        <p:scale>
          <a:sx n="187" d="100"/>
          <a:sy n="187" d="100"/>
        </p:scale>
        <p:origin x="200" y="288"/>
      </p:cViewPr>
      <p:guideLst>
        <p:guide orient="horz" pos="158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01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68BB5-7A29-452A-B3CC-64403C83207F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6367D-8BCC-4E7C-A347-ABEDA546BB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AAAC1-B233-4B85-822D-9B0B2A1B9A4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512F2-B00E-4900-B8F4-C8F10FD3E0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0DEB-404B-4833-AE68-F5D8D941BD2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CC61-4E2C-A43F-96B0-55CDBC9F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B68DD1-F6F6-BD37-52D0-622F17F58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911348-0E6F-32DC-6601-BDD621ACB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A1F9F-4099-731D-69B4-DCEC93BDA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0DEB-404B-4833-AE68-F5D8D941BD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058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5C5E-29DB-ECFE-771B-5A389F0C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71E29-BA7C-17C8-661B-5C103B14B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B060A3-528A-E74F-8CEC-59848A455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E3068-08D8-3E1A-2321-0A91F6EF9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0DEB-404B-4833-AE68-F5D8D941BD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92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6700-97EA-1FFB-3C65-D411AB54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7D4526-F954-8008-D41F-FE17A1F71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6F0DE0-2BB8-C782-64F5-B0A28BF49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800CD9-C89E-7178-E912-3F7BABB44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0DEB-404B-4833-AE68-F5D8D941BD2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68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347E-B708-AAF9-8BDA-8EDAF81A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3F860C-D830-0849-790B-283DE3EA6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75A330-A8A3-70E6-E836-57E57DDA6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A29FA-95E0-269C-7944-703D40238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F0DEB-404B-4833-AE68-F5D8D941BD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180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326468" y="1924496"/>
            <a:ext cx="6491064" cy="6437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2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5" name="内容占位符 14"/>
          <p:cNvSpPr>
            <a:spLocks noGrp="1"/>
          </p:cNvSpPr>
          <p:nvPr>
            <p:ph sz="quarter" idx="10"/>
          </p:nvPr>
        </p:nvSpPr>
        <p:spPr>
          <a:xfrm>
            <a:off x="1944006" y="2572568"/>
            <a:ext cx="5255988" cy="503238"/>
          </a:xfrm>
          <a:prstGeom prst="rect">
            <a:avLst/>
          </a:prstGeom>
        </p:spPr>
        <p:txBody>
          <a:bodyPr anchor="ctr"/>
          <a:lstStyle>
            <a:lvl1pPr algn="ctr">
              <a:defRPr sz="24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1326468" y="1924496"/>
            <a:ext cx="6491064" cy="6437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2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14"/>
          <p:cNvSpPr>
            <a:spLocks noGrp="1"/>
          </p:cNvSpPr>
          <p:nvPr>
            <p:ph sz="quarter" idx="10"/>
          </p:nvPr>
        </p:nvSpPr>
        <p:spPr>
          <a:xfrm>
            <a:off x="1944006" y="2572568"/>
            <a:ext cx="5255988" cy="503238"/>
          </a:xfrm>
          <a:prstGeom prst="rect">
            <a:avLst/>
          </a:prstGeom>
        </p:spPr>
        <p:txBody>
          <a:bodyPr anchor="ctr"/>
          <a:lstStyle>
            <a:lvl1pPr algn="ctr">
              <a:defRPr sz="2400" b="0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dpi="0" rotWithShape="0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1059406" y="452013"/>
            <a:ext cx="1597367" cy="1543674"/>
          </a:xfrm>
          <a:prstGeom prst="roundRect">
            <a:avLst>
              <a:gd name="adj" fmla="val 0"/>
            </a:avLst>
          </a:prstGeom>
          <a:solidFill>
            <a:srgbClr val="FFFFFF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7"/>
          <p:cNvSpPr txBox="1"/>
          <p:nvPr>
            <p:custDataLst>
              <p:tags r:id="rId2"/>
            </p:custDataLst>
          </p:nvPr>
        </p:nvSpPr>
        <p:spPr>
          <a:xfrm>
            <a:off x="1187624" y="1252612"/>
            <a:ext cx="2388870" cy="5270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en-US" altLang="zh-CN" sz="2000" kern="0" dirty="0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</a:p>
        </p:txBody>
      </p:sp>
      <p:sp>
        <p:nvSpPr>
          <p:cNvPr id="5" name="矩形 4"/>
          <p:cNvSpPr/>
          <p:nvPr/>
        </p:nvSpPr>
        <p:spPr>
          <a:xfrm flipV="1">
            <a:off x="1312337" y="1687469"/>
            <a:ext cx="1656184" cy="67029"/>
          </a:xfrm>
          <a:prstGeom prst="rect">
            <a:avLst/>
          </a:prstGeom>
          <a:gradFill>
            <a:gsLst>
              <a:gs pos="0">
                <a:srgbClr val="00B7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55551" y="483900"/>
            <a:ext cx="1726565" cy="922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4095074" y="1319785"/>
            <a:ext cx="953852" cy="720105"/>
          </a:xfrm>
          <a:prstGeom prst="rect">
            <a:avLst/>
          </a:prstGeom>
        </p:spPr>
        <p:txBody>
          <a:bodyPr anchor="ctr"/>
          <a:lstStyle>
            <a:lvl1pPr algn="ctr">
              <a:defRPr sz="3200" b="1" i="0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algn="l" defTabSz="914400" rtl="0" eaLnBrk="1" latinLnBrk="0" hangingPunct="1">
              <a:defRPr lang="zh-CN" altLang="en-US" sz="4400" kern="1200" dirty="0" smtClean="0">
                <a:solidFill>
                  <a:srgbClr val="0059E9"/>
                </a:solidFill>
                <a:latin typeface="Impact" panose="020B080603090205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algn="l" defTabSz="914400" rtl="0" eaLnBrk="1" latinLnBrk="0" hangingPunct="1">
              <a:defRPr lang="zh-CN" altLang="en-US" sz="4400" kern="1200" dirty="0" smtClean="0">
                <a:solidFill>
                  <a:srgbClr val="0059E9"/>
                </a:solidFill>
                <a:latin typeface="Impact" panose="020B080603090205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algn="l" defTabSz="914400" rtl="0" eaLnBrk="1" latinLnBrk="0" hangingPunct="1">
              <a:defRPr lang="zh-CN" altLang="en-US" sz="4400" kern="1200" dirty="0" smtClean="0">
                <a:solidFill>
                  <a:srgbClr val="0059E9"/>
                </a:solidFill>
                <a:latin typeface="Impact" panose="020B080603090205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algn="l" defTabSz="914400" rtl="0" eaLnBrk="1" latinLnBrk="0" hangingPunct="1">
              <a:defRPr lang="zh-CN" altLang="en-US" sz="4400" kern="1200" dirty="0">
                <a:solidFill>
                  <a:srgbClr val="0059E9"/>
                </a:solidFill>
                <a:latin typeface="Impact" panose="020B080603090205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内容占位符 9"/>
          <p:cNvSpPr>
            <a:spLocks noGrp="1"/>
          </p:cNvSpPr>
          <p:nvPr>
            <p:ph sz="quarter" idx="11" hasCustomPrompt="1"/>
          </p:nvPr>
        </p:nvSpPr>
        <p:spPr>
          <a:xfrm>
            <a:off x="1439652" y="2427734"/>
            <a:ext cx="6264696" cy="504056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 marL="914400" indent="0">
              <a:buFontTx/>
              <a:buNone/>
              <a:defRPr sz="2800">
                <a:latin typeface="+mn-ea"/>
                <a:ea typeface="+mn-ea"/>
              </a:defRPr>
            </a:lvl3pPr>
            <a:lvl4pPr marL="1371600" indent="0">
              <a:buFontTx/>
              <a:buNone/>
              <a:defRPr sz="2800">
                <a:latin typeface="+mn-ea"/>
                <a:ea typeface="+mn-ea"/>
              </a:defRPr>
            </a:lvl4pPr>
            <a:lvl5pPr marL="1828800" indent="0">
              <a:buFontTx/>
              <a:buNone/>
              <a:defRPr sz="28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此处是大纲标题样式</a:t>
            </a:r>
          </a:p>
        </p:txBody>
      </p:sp>
      <p:sp>
        <p:nvSpPr>
          <p:cNvPr id="14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  <p:pic>
        <p:nvPicPr>
          <p:cNvPr id="5" name="图片 4" descr="C:\Users\Administrator\Desktop\cccccccc.pngccccccc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635896" y="1435998"/>
            <a:ext cx="514350" cy="4876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8"/>
          <p:cNvSpPr>
            <a:spLocks noGrp="1"/>
          </p:cNvSpPr>
          <p:nvPr>
            <p:ph sz="quarter" idx="11" hasCustomPrompt="1"/>
          </p:nvPr>
        </p:nvSpPr>
        <p:spPr>
          <a:xfrm>
            <a:off x="683568" y="1131590"/>
            <a:ext cx="7783538" cy="288131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2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  <p:sp>
        <p:nvSpPr>
          <p:cNvPr id="7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899592" y="239611"/>
            <a:ext cx="5544616" cy="50405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589"/>
            <a:ext cx="844642" cy="423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  <p:sp>
        <p:nvSpPr>
          <p:cNvPr id="11" name="内容占位符 8"/>
          <p:cNvSpPr>
            <a:spLocks noGrp="1"/>
          </p:cNvSpPr>
          <p:nvPr>
            <p:ph sz="quarter" idx="11" hasCustomPrompt="1"/>
          </p:nvPr>
        </p:nvSpPr>
        <p:spPr>
          <a:xfrm>
            <a:off x="683568" y="1131590"/>
            <a:ext cx="7783538" cy="288131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2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899592" y="239611"/>
            <a:ext cx="5544616" cy="50405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589"/>
            <a:ext cx="844642" cy="423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/>
          <p:cNvSpPr txBox="1"/>
          <p:nvPr/>
        </p:nvSpPr>
        <p:spPr>
          <a:xfrm>
            <a:off x="323528" y="4636239"/>
            <a:ext cx="1194879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密级：秘密   </a:t>
            </a:r>
          </a:p>
        </p:txBody>
      </p:sp>
      <p:sp>
        <p:nvSpPr>
          <p:cNvPr id="11" name="内容占位符 8"/>
          <p:cNvSpPr>
            <a:spLocks noGrp="1"/>
          </p:cNvSpPr>
          <p:nvPr>
            <p:ph sz="quarter" idx="11" hasCustomPrompt="1"/>
          </p:nvPr>
        </p:nvSpPr>
        <p:spPr>
          <a:xfrm>
            <a:off x="683568" y="1131590"/>
            <a:ext cx="7783538" cy="288131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2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899592" y="239611"/>
            <a:ext cx="5544616" cy="50405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8409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589"/>
            <a:ext cx="844642" cy="4233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23528" y="4636239"/>
            <a:ext cx="835806" cy="28469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密级：  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首页0100_看图王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图片 6" descr="图层 30_看图王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1708150"/>
            <a:ext cx="9144000" cy="16046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5018" y="1901540"/>
            <a:ext cx="7133964" cy="64379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设计质量治理宣贯</a:t>
            </a:r>
            <a:endParaRPr lang="zh-CN" altLang="en-US" sz="3200" dirty="0">
              <a:solidFill>
                <a:srgbClr val="08409C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0" y="2572568"/>
            <a:ext cx="9144000" cy="50323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预分析落地  </a:t>
            </a:r>
            <a:r>
              <a:rPr lang="en-US" altLang="zh-CN" dirty="0"/>
              <a:t>·  </a:t>
            </a:r>
            <a:r>
              <a:rPr lang="zh-CN" altLang="en-US" dirty="0"/>
              <a:t>架构资产守护  </a:t>
            </a:r>
            <a:r>
              <a:rPr lang="en-US" altLang="zh-CN" dirty="0"/>
              <a:t>·  </a:t>
            </a:r>
            <a:r>
              <a:rPr lang="zh-CN" altLang="en-US" dirty="0"/>
              <a:t>设计缺陷度量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899592" y="239611"/>
            <a:ext cx="6408712" cy="504056"/>
          </a:xfrm>
        </p:spPr>
        <p:txBody>
          <a:bodyPr/>
          <a:lstStyle/>
          <a:p>
            <a:r>
              <a:rPr lang="zh-CN" altLang="en-US" dirty="0"/>
              <a:t>背景目标与整体框架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C89FC39-63A8-191B-C698-CB005960212E}"/>
              </a:ext>
            </a:extLst>
          </p:cNvPr>
          <p:cNvSpPr/>
          <p:nvPr/>
        </p:nvSpPr>
        <p:spPr>
          <a:xfrm>
            <a:off x="365760" y="73152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034E247-F909-C6DF-69B3-E80465F77529}"/>
              </a:ext>
            </a:extLst>
          </p:cNvPr>
          <p:cNvSpPr/>
          <p:nvPr/>
        </p:nvSpPr>
        <p:spPr>
          <a:xfrm>
            <a:off x="365760" y="731520"/>
            <a:ext cx="64008" cy="2103120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2911695-F687-A1A1-14DF-852F3E023242}"/>
              </a:ext>
            </a:extLst>
          </p:cNvPr>
          <p:cNvSpPr/>
          <p:nvPr/>
        </p:nvSpPr>
        <p:spPr>
          <a:xfrm>
            <a:off x="45720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为什么做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0133A6-14AB-F2B9-BDD3-EA4DE7DED6FD}"/>
              </a:ext>
            </a:extLst>
          </p:cNvPr>
          <p:cNvSpPr/>
          <p:nvPr/>
        </p:nvSpPr>
        <p:spPr>
          <a:xfrm>
            <a:off x="45720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现场缺陷中大量问题可在设计阶段提前识别和规避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设计经验分散，缺少统一、可复用、可评审的设计约束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需要从「事后修缺陷」转向「事前防问题、过程可检查」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35B3696-2577-A474-4AC4-B7A9284FBA62}"/>
              </a:ext>
            </a:extLst>
          </p:cNvPr>
          <p:cNvSpPr/>
          <p:nvPr/>
        </p:nvSpPr>
        <p:spPr>
          <a:xfrm>
            <a:off x="365760" y="29718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07F99C5-AA2A-CC05-7221-0717B32401B4}"/>
              </a:ext>
            </a:extLst>
          </p:cNvPr>
          <p:cNvSpPr/>
          <p:nvPr/>
        </p:nvSpPr>
        <p:spPr>
          <a:xfrm>
            <a:off x="365760" y="2971800"/>
            <a:ext cx="64008" cy="1645920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3B6B84C-5D91-383A-9944-67629F6338AF}"/>
              </a:ext>
            </a:extLst>
          </p:cNvPr>
          <p:cNvSpPr/>
          <p:nvPr/>
        </p:nvSpPr>
        <p:spPr>
          <a:xfrm>
            <a:off x="45720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9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治理目标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F63DCA-8299-B7C5-02A0-C2784991C040}"/>
              </a:ext>
            </a:extLst>
          </p:cNvPr>
          <p:cNvSpPr/>
          <p:nvPr/>
        </p:nvSpPr>
        <p:spPr>
          <a:xfrm>
            <a:off x="45720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设计遗漏缺陷密度同比降低 50%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架构资产完整登记，与代码持续一致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建立「事前防问题、事中管变更、事后沉淀教训」闭环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052F20B-5AC2-81B7-28CC-1E4F195A4853}"/>
              </a:ext>
            </a:extLst>
          </p:cNvPr>
          <p:cNvSpPr/>
          <p:nvPr/>
        </p:nvSpPr>
        <p:spPr>
          <a:xfrm>
            <a:off x="4754880" y="731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整体框架  ·  三大支柱闭环</a:t>
            </a:r>
            <a:endParaRPr lang="en-US" sz="13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095FEDB-41AC-F578-3662-947D5780E7D1}"/>
              </a:ext>
            </a:extLst>
          </p:cNvPr>
          <p:cNvSpPr/>
          <p:nvPr/>
        </p:nvSpPr>
        <p:spPr>
          <a:xfrm>
            <a:off x="4754880" y="1143000"/>
            <a:ext cx="40233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10C309C-F40A-673B-B42D-1A6C53F617D2}"/>
              </a:ext>
            </a:extLst>
          </p:cNvPr>
          <p:cNvSpPr/>
          <p:nvPr/>
        </p:nvSpPr>
        <p:spPr>
          <a:xfrm>
            <a:off x="4754880" y="1143000"/>
            <a:ext cx="4023360" cy="73152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142A076-F373-6324-7628-CC0FF4ABAD9E}"/>
              </a:ext>
            </a:extLst>
          </p:cNvPr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事前  预分析落地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DE5C3BE-45B2-F54B-738F-95482EAA7510}"/>
              </a:ext>
            </a:extLst>
          </p:cNvPr>
          <p:cNvSpPr/>
          <p:nvPr/>
        </p:nvSpPr>
        <p:spPr>
          <a:xfrm>
            <a:off x="4846320" y="1554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把问题想清楚——风险识别、非功能需求、准出标准、边界、运维方案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21A6CFF-2C33-21CD-3E73-BF718D30CCDA}"/>
              </a:ext>
            </a:extLst>
          </p:cNvPr>
          <p:cNvSpPr/>
          <p:nvPr/>
        </p:nvSpPr>
        <p:spPr>
          <a:xfrm>
            <a:off x="4754880" y="2240280"/>
            <a:ext cx="40233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9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CEED5C3-A4FE-1F1D-5D6C-23534CFC3064}"/>
              </a:ext>
            </a:extLst>
          </p:cNvPr>
          <p:cNvSpPr/>
          <p:nvPr/>
        </p:nvSpPr>
        <p:spPr>
          <a:xfrm>
            <a:off x="4754880" y="2240280"/>
            <a:ext cx="4023360" cy="73152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5C8F77D-71F9-FB78-1F5A-260A82086661}"/>
              </a:ext>
            </a:extLst>
          </p:cNvPr>
          <p:cNvSpPr/>
          <p:nvPr/>
        </p:nvSpPr>
        <p:spPr>
          <a:xfrm>
            <a:off x="484632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事中  架构资产守护</a:t>
            </a:r>
            <a:endParaRPr lang="en-US" sz="13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2CE3B83-0BA5-DB0C-3C4A-DF3B8493AC8A}"/>
              </a:ext>
            </a:extLst>
          </p:cNvPr>
          <p:cNvSpPr/>
          <p:nvPr/>
        </p:nvSpPr>
        <p:spPr>
          <a:xfrm>
            <a:off x="4846320" y="2651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把变更管起来——HEP资产登记、最小守护集、5步守护流程</a:t>
            </a:r>
            <a:endParaRPr lang="en-US" sz="10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6A6B995-AF72-8C43-9A4E-B9104F87042F}"/>
              </a:ext>
            </a:extLst>
          </p:cNvPr>
          <p:cNvSpPr/>
          <p:nvPr/>
        </p:nvSpPr>
        <p:spPr>
          <a:xfrm>
            <a:off x="4754880" y="3337560"/>
            <a:ext cx="40233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840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11974A3-C718-373F-3CC1-26882A6AC172}"/>
              </a:ext>
            </a:extLst>
          </p:cNvPr>
          <p:cNvSpPr/>
          <p:nvPr/>
        </p:nvSpPr>
        <p:spPr>
          <a:xfrm>
            <a:off x="4754880" y="3337560"/>
            <a:ext cx="4023360" cy="73152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0C73416B-C150-1202-66A0-0BDFFB0AB14F}"/>
              </a:ext>
            </a:extLst>
          </p:cNvPr>
          <p:cNvSpPr/>
          <p:nvPr/>
        </p:nvSpPr>
        <p:spPr>
          <a:xfrm>
            <a:off x="484632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事后  设计缺陷度量</a:t>
            </a:r>
            <a:endParaRPr lang="en-US" sz="13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723308E-FB7C-FF8C-8B99-35277887A7BD}"/>
              </a:ext>
            </a:extLst>
          </p:cNvPr>
          <p:cNvSpPr/>
          <p:nvPr/>
        </p:nvSpPr>
        <p:spPr>
          <a:xfrm>
            <a:off x="484632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把教训沉淀下来——缺陷密度基线、T+1复盘、指引修订闭环</a:t>
            </a:r>
            <a:endParaRPr lang="en-US" sz="10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251222D-0821-62BB-F502-AAAE7BF41944}"/>
              </a:ext>
            </a:extLst>
          </p:cNvPr>
          <p:cNvSpPr/>
          <p:nvPr/>
        </p:nvSpPr>
        <p:spPr>
          <a:xfrm>
            <a:off x="6720840" y="2103120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05ADA6F-336E-6DF3-51D1-27C8281CB189}"/>
              </a:ext>
            </a:extLst>
          </p:cNvPr>
          <p:cNvSpPr/>
          <p:nvPr/>
        </p:nvSpPr>
        <p:spPr>
          <a:xfrm>
            <a:off x="6720840" y="3200400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0FD66ED-9B25-BF67-9875-3455E0DF550D}"/>
              </a:ext>
            </a:extLst>
          </p:cNvPr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00B7FF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3E824E3-239F-E38F-4B37-BF358C6E608E}"/>
              </a:ext>
            </a:extLst>
          </p:cNvPr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59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架构体系对设计质量、关键架构资产、关键变更守护、设计遗漏缺陷下降结果负责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FCFC-B3D0-8760-81D0-E716CE99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2D3E2C1-E56B-FDC6-2D42-52EB44154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9592" y="239611"/>
            <a:ext cx="6408712" cy="504056"/>
          </a:xfrm>
        </p:spPr>
        <p:txBody>
          <a:bodyPr/>
          <a:lstStyle/>
          <a:p>
            <a:r>
              <a:rPr lang="zh-CN" altLang="en-US" dirty="0"/>
              <a:t>预分析落地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D9CD1174-D686-1E0E-9558-943D816A0989}"/>
              </a:ext>
            </a:extLst>
          </p:cNvPr>
          <p:cNvSpPr/>
          <p:nvPr/>
        </p:nvSpPr>
        <p:spPr>
          <a:xfrm>
            <a:off x="365760" y="731520"/>
            <a:ext cx="4023360" cy="20539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079E3095-D106-1387-17EB-4DA88C3B5F24}"/>
              </a:ext>
            </a:extLst>
          </p:cNvPr>
          <p:cNvSpPr/>
          <p:nvPr/>
        </p:nvSpPr>
        <p:spPr>
          <a:xfrm>
            <a:off x="365760" y="731520"/>
            <a:ext cx="64008" cy="2053942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971B70FD-CFA6-89E1-20A5-6FEFA3E55C86}"/>
              </a:ext>
            </a:extLst>
          </p:cNvPr>
          <p:cNvSpPr/>
          <p:nvPr/>
        </p:nvSpPr>
        <p:spPr>
          <a:xfrm>
            <a:off x="45720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基本要求项（基础项，裁剪需评审）</a:t>
            </a:r>
            <a:endParaRPr lang="en-US" sz="12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AAE9B59B-A068-B0AB-EE17-9458A568162F}"/>
              </a:ext>
            </a:extLst>
          </p:cNvPr>
          <p:cNvSpPr/>
          <p:nvPr/>
        </p:nvSpPr>
        <p:spPr>
          <a:xfrm>
            <a:off x="457200" y="1097280"/>
            <a:ext cx="3749040" cy="1474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风险项识别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非功能需求全覆盖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性能（含理论极限推演 + 分阶段目标）</a:t>
            </a:r>
            <a:endParaRPr lang="en-US" sz="10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兼容性、可靠性（RTO/RPO）、可维护性、可观测性、安全性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准出标准明确：指标可量化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边界明确：依赖系统清单，各自改动范围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运维运营全面：部署 + 运维手册 + 监控 + 升级方案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需求分级明确：难度等级、工作量预估、资源匹配</a:t>
            </a:r>
            <a:endParaRPr lang="en-US" sz="10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E2BFB683-8643-5360-5B48-E7444AFE6739}"/>
              </a:ext>
            </a:extLst>
          </p:cNvPr>
          <p:cNvSpPr/>
          <p:nvPr/>
        </p:nvSpPr>
        <p:spPr>
          <a:xfrm>
            <a:off x="4754880" y="731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A4E90540-ED09-71F8-B9D0-B32BD3D316AA}"/>
              </a:ext>
            </a:extLst>
          </p:cNvPr>
          <p:cNvSpPr/>
          <p:nvPr/>
        </p:nvSpPr>
        <p:spPr>
          <a:xfrm>
            <a:off x="4754880" y="731520"/>
            <a:ext cx="64008" cy="1005840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3AC15E3B-AEAD-D424-9ED1-D6CABB9B71B3}"/>
              </a:ext>
            </a:extLst>
          </p:cNvPr>
          <p:cNvSpPr/>
          <p:nvPr/>
        </p:nvSpPr>
        <p:spPr>
          <a:xfrm>
            <a:off x="484632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9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PDT自定义要求项</a:t>
            </a:r>
            <a:endParaRPr lang="en-US" sz="12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45CACD1C-329F-1DCA-722F-747EFCA30E68}"/>
              </a:ext>
            </a:extLst>
          </p:cNvPr>
          <p:cNvSpPr/>
          <p:nvPr/>
        </p:nvSpPr>
        <p:spPr>
          <a:xfrm>
            <a:off x="4846320" y="1097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各PDT可结合产品特点增加个性化要求项，基础项裁剪须提交架构办评审，审核后留档执行</a:t>
            </a:r>
            <a:endParaRPr lang="en-US" sz="10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0FE97C9E-BC9B-F8D1-6AE1-AE343AA9A0D6}"/>
              </a:ext>
            </a:extLst>
          </p:cNvPr>
          <p:cNvSpPr/>
          <p:nvPr/>
        </p:nvSpPr>
        <p:spPr>
          <a:xfrm>
            <a:off x="4754880" y="1874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25B7CD2C-510C-82C6-CBBE-F107A310AFBA}"/>
              </a:ext>
            </a:extLst>
          </p:cNvPr>
          <p:cNvSpPr/>
          <p:nvPr/>
        </p:nvSpPr>
        <p:spPr>
          <a:xfrm>
            <a:off x="4754880" y="1874520"/>
            <a:ext cx="64008" cy="1005840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FEED0F14-F31F-262E-CF8B-E7850A1E73CB}"/>
              </a:ext>
            </a:extLst>
          </p:cNvPr>
          <p:cNvSpPr/>
          <p:nvPr/>
        </p:nvSpPr>
        <p:spPr>
          <a:xfrm>
            <a:off x="48463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9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</a:t>
            </a:r>
            <a:r>
              <a:rPr lang="en-US" sz="1200" b="1" dirty="0" err="1">
                <a:solidFill>
                  <a:srgbClr val="0059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审核流程</a:t>
            </a:r>
            <a:endParaRPr lang="en-US" sz="12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5A1FA4C6-443B-99E4-B8B8-A494AE7244DA}"/>
              </a:ext>
            </a:extLst>
          </p:cNvPr>
          <p:cNvSpPr/>
          <p:nvPr/>
        </p:nvSpPr>
        <p:spPr>
          <a:xfrm>
            <a:off x="4846320" y="2240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PDT提交预分析模板  →  业务域架构办审核  →  架构办留档执行</a:t>
            </a:r>
            <a:endParaRPr lang="en-US" sz="10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AD01E198-A235-C63F-9485-53B059FF624A}"/>
              </a:ext>
            </a:extLst>
          </p:cNvPr>
          <p:cNvSpPr/>
          <p:nvPr/>
        </p:nvSpPr>
        <p:spPr>
          <a:xfrm>
            <a:off x="365760" y="278546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预分析核心检查项</a:t>
            </a:r>
            <a:endParaRPr lang="en-US" sz="13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E70472C2-CA73-146A-115D-C7DC3AD28100}"/>
              </a:ext>
            </a:extLst>
          </p:cNvPr>
          <p:cNvSpPr/>
          <p:nvPr/>
        </p:nvSpPr>
        <p:spPr>
          <a:xfrm>
            <a:off x="365760" y="3196942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22EF70FC-7F8D-7AA2-6CD7-BFE99BDD3E35}"/>
              </a:ext>
            </a:extLst>
          </p:cNvPr>
          <p:cNvSpPr/>
          <p:nvPr/>
        </p:nvSpPr>
        <p:spPr>
          <a:xfrm>
            <a:off x="365760" y="3196942"/>
            <a:ext cx="1572768" cy="54864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791C18E0-F4BE-8525-CBAE-760F45626544}"/>
              </a:ext>
            </a:extLst>
          </p:cNvPr>
          <p:cNvSpPr/>
          <p:nvPr/>
        </p:nvSpPr>
        <p:spPr>
          <a:xfrm>
            <a:off x="365760" y="328838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4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499D0F2C-65D8-C281-E43A-046B355D68A2}"/>
              </a:ext>
            </a:extLst>
          </p:cNvPr>
          <p:cNvSpPr/>
          <p:nvPr/>
        </p:nvSpPr>
        <p:spPr>
          <a:xfrm>
            <a:off x="365760" y="379130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</a:t>
            </a:r>
            <a:endParaRPr lang="en-US" sz="12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B25065C8-3959-CBC5-51C9-D155267D874B}"/>
              </a:ext>
            </a:extLst>
          </p:cNvPr>
          <p:cNvSpPr/>
          <p:nvPr/>
        </p:nvSpPr>
        <p:spPr>
          <a:xfrm>
            <a:off x="365760" y="411134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识别高风险、复杂需求</a:t>
            </a:r>
            <a:endParaRPr lang="en-US" sz="900" dirty="0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B71B4334-BFA1-08D3-A1F5-B37029EB07DC}"/>
              </a:ext>
            </a:extLst>
          </p:cNvPr>
          <p:cNvSpPr/>
          <p:nvPr/>
        </p:nvSpPr>
        <p:spPr>
          <a:xfrm>
            <a:off x="2029968" y="3196942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EA2CF258-3ABF-0CB2-5F8B-896676F7C408}"/>
              </a:ext>
            </a:extLst>
          </p:cNvPr>
          <p:cNvSpPr/>
          <p:nvPr/>
        </p:nvSpPr>
        <p:spPr>
          <a:xfrm>
            <a:off x="2029968" y="3196942"/>
            <a:ext cx="1572768" cy="54864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9A16205D-86BC-C6AE-3ED6-5D6642AF6BE2}"/>
              </a:ext>
            </a:extLst>
          </p:cNvPr>
          <p:cNvSpPr/>
          <p:nvPr/>
        </p:nvSpPr>
        <p:spPr>
          <a:xfrm>
            <a:off x="2029968" y="328838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57E4A6F1-566F-CBFB-1ECB-83525C03A7B8}"/>
              </a:ext>
            </a:extLst>
          </p:cNvPr>
          <p:cNvSpPr/>
          <p:nvPr/>
        </p:nvSpPr>
        <p:spPr>
          <a:xfrm>
            <a:off x="2029968" y="379130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非功能覆盖</a:t>
            </a:r>
            <a:endParaRPr lang="en-US" sz="12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5B763001-D263-784A-E082-18033CD37C4A}"/>
              </a:ext>
            </a:extLst>
          </p:cNvPr>
          <p:cNvSpPr/>
          <p:nvPr/>
        </p:nvSpPr>
        <p:spPr>
          <a:xfrm>
            <a:off x="2029968" y="411134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性能/兼容/可靠/安全等</a:t>
            </a:r>
            <a:endParaRPr lang="en-US" sz="900" dirty="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05B793F3-EDA0-58CA-887B-CAF3861BDD29}"/>
              </a:ext>
            </a:extLst>
          </p:cNvPr>
          <p:cNvSpPr/>
          <p:nvPr/>
        </p:nvSpPr>
        <p:spPr>
          <a:xfrm>
            <a:off x="3694176" y="3196942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26">
            <a:extLst>
              <a:ext uri="{FF2B5EF4-FFF2-40B4-BE49-F238E27FC236}">
                <a16:creationId xmlns:a16="http://schemas.microsoft.com/office/drawing/2014/main" id="{1BC08581-00DA-2F4B-2FE7-8FEBBACF642B}"/>
              </a:ext>
            </a:extLst>
          </p:cNvPr>
          <p:cNvSpPr/>
          <p:nvPr/>
        </p:nvSpPr>
        <p:spPr>
          <a:xfrm>
            <a:off x="3694176" y="3196942"/>
            <a:ext cx="1572768" cy="54864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1EF23C00-7751-646C-471C-2698AA5BAAE8}"/>
              </a:ext>
            </a:extLst>
          </p:cNvPr>
          <p:cNvSpPr/>
          <p:nvPr/>
        </p:nvSpPr>
        <p:spPr>
          <a:xfrm>
            <a:off x="3694176" y="328838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71035946-BA2E-F1B9-635C-D67389E2CF9D}"/>
              </a:ext>
            </a:extLst>
          </p:cNvPr>
          <p:cNvSpPr/>
          <p:nvPr/>
        </p:nvSpPr>
        <p:spPr>
          <a:xfrm>
            <a:off x="3694176" y="379130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准出标准</a:t>
            </a:r>
            <a:endParaRPr lang="en-US" sz="120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9E248C77-75E8-FB22-02A2-11B5791CEC4F}"/>
              </a:ext>
            </a:extLst>
          </p:cNvPr>
          <p:cNvSpPr/>
          <p:nvPr/>
        </p:nvSpPr>
        <p:spPr>
          <a:xfrm>
            <a:off x="3694176" y="411134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指标量化、理论推演</a:t>
            </a:r>
            <a:endParaRPr lang="en-US" sz="900" dirty="0"/>
          </a:p>
        </p:txBody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FC5D5C80-B873-8662-6DDD-959436579378}"/>
              </a:ext>
            </a:extLst>
          </p:cNvPr>
          <p:cNvSpPr/>
          <p:nvPr/>
        </p:nvSpPr>
        <p:spPr>
          <a:xfrm>
            <a:off x="5358384" y="3196942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31">
            <a:extLst>
              <a:ext uri="{FF2B5EF4-FFF2-40B4-BE49-F238E27FC236}">
                <a16:creationId xmlns:a16="http://schemas.microsoft.com/office/drawing/2014/main" id="{11ADF9C7-9295-E93E-F5F5-6A3682824716}"/>
              </a:ext>
            </a:extLst>
          </p:cNvPr>
          <p:cNvSpPr/>
          <p:nvPr/>
        </p:nvSpPr>
        <p:spPr>
          <a:xfrm>
            <a:off x="5358384" y="3196942"/>
            <a:ext cx="1572768" cy="54864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67F12F33-36B7-4900-5E54-443BF78BDE58}"/>
              </a:ext>
            </a:extLst>
          </p:cNvPr>
          <p:cNvSpPr/>
          <p:nvPr/>
        </p:nvSpPr>
        <p:spPr>
          <a:xfrm>
            <a:off x="5358384" y="328838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F34FD178-9743-7C68-5742-BCDF3D7D4E9E}"/>
              </a:ext>
            </a:extLst>
          </p:cNvPr>
          <p:cNvSpPr/>
          <p:nvPr/>
        </p:nvSpPr>
        <p:spPr>
          <a:xfrm>
            <a:off x="5358384" y="379130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边界明确</a:t>
            </a:r>
            <a:endParaRPr lang="en-US" sz="120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9D2441E7-49F7-B5DF-8E68-814655B5359D}"/>
              </a:ext>
            </a:extLst>
          </p:cNvPr>
          <p:cNvSpPr/>
          <p:nvPr/>
        </p:nvSpPr>
        <p:spPr>
          <a:xfrm>
            <a:off x="5358384" y="411134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依赖系统、改动范围</a:t>
            </a:r>
            <a:endParaRPr lang="en-US" sz="900" dirty="0"/>
          </a:p>
        </p:txBody>
      </p:sp>
      <p:sp>
        <p:nvSpPr>
          <p:cNvPr id="63" name="Shape 35">
            <a:extLst>
              <a:ext uri="{FF2B5EF4-FFF2-40B4-BE49-F238E27FC236}">
                <a16:creationId xmlns:a16="http://schemas.microsoft.com/office/drawing/2014/main" id="{549543B8-0F94-A8F5-519B-38391D51961F}"/>
              </a:ext>
            </a:extLst>
          </p:cNvPr>
          <p:cNvSpPr/>
          <p:nvPr/>
        </p:nvSpPr>
        <p:spPr>
          <a:xfrm>
            <a:off x="7022592" y="3196942"/>
            <a:ext cx="157276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36">
            <a:extLst>
              <a:ext uri="{FF2B5EF4-FFF2-40B4-BE49-F238E27FC236}">
                <a16:creationId xmlns:a16="http://schemas.microsoft.com/office/drawing/2014/main" id="{5ECA5863-30E4-5881-97BB-FADEE97C7A0B}"/>
              </a:ext>
            </a:extLst>
          </p:cNvPr>
          <p:cNvSpPr/>
          <p:nvPr/>
        </p:nvSpPr>
        <p:spPr>
          <a:xfrm>
            <a:off x="7022592" y="3196942"/>
            <a:ext cx="1572768" cy="54864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80274447-B6A2-CDD8-868D-FE7CA38DCDEC}"/>
              </a:ext>
            </a:extLst>
          </p:cNvPr>
          <p:cNvSpPr/>
          <p:nvPr/>
        </p:nvSpPr>
        <p:spPr>
          <a:xfrm>
            <a:off x="7022592" y="328838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66" name="Text 38">
            <a:extLst>
              <a:ext uri="{FF2B5EF4-FFF2-40B4-BE49-F238E27FC236}">
                <a16:creationId xmlns:a16="http://schemas.microsoft.com/office/drawing/2014/main" id="{8840E0C7-EC28-5BF0-7F6A-9DB92A47882C}"/>
              </a:ext>
            </a:extLst>
          </p:cNvPr>
          <p:cNvSpPr/>
          <p:nvPr/>
        </p:nvSpPr>
        <p:spPr>
          <a:xfrm>
            <a:off x="7022592" y="379130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运维方案</a:t>
            </a:r>
            <a:endParaRPr lang="en-US" sz="1200" dirty="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D9831CA0-61DA-99DF-18CF-A655CA19209E}"/>
              </a:ext>
            </a:extLst>
          </p:cNvPr>
          <p:cNvSpPr/>
          <p:nvPr/>
        </p:nvSpPr>
        <p:spPr>
          <a:xfrm>
            <a:off x="7022592" y="411134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部署/监控/升级方案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4030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E04F-89C9-A7DC-37EE-CBB05218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97B4430-3987-9FEB-E3FF-A051352C93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9592" y="239611"/>
            <a:ext cx="6408712" cy="504056"/>
          </a:xfrm>
        </p:spPr>
        <p:txBody>
          <a:bodyPr/>
          <a:lstStyle/>
          <a:p>
            <a:r>
              <a:rPr lang="zh-CN" altLang="en-US" dirty="0"/>
              <a:t>架构资产守护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53344EB-AC1B-A3DC-9394-34EDFCCFE5FF}"/>
              </a:ext>
            </a:extLst>
          </p:cNvPr>
          <p:cNvSpPr/>
          <p:nvPr/>
        </p:nvSpPr>
        <p:spPr>
          <a:xfrm>
            <a:off x="365760" y="71323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B6C05EE-B69C-9ADB-9D69-26B5C77D6F6D}"/>
              </a:ext>
            </a:extLst>
          </p:cNvPr>
          <p:cNvSpPr/>
          <p:nvPr/>
        </p:nvSpPr>
        <p:spPr>
          <a:xfrm>
            <a:off x="365760" y="713232"/>
            <a:ext cx="64008" cy="594360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BB1A9AF-F7D7-160A-B691-7F27C5091DB9}"/>
              </a:ext>
            </a:extLst>
          </p:cNvPr>
          <p:cNvSpPr/>
          <p:nvPr/>
        </p:nvSpPr>
        <p:spPr>
          <a:xfrm>
            <a:off x="50292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守护目标：资产完整登记到HEP，与代码持续一致  ——  有没有 / 全不全 / 对不对</a:t>
            </a:r>
            <a:endParaRPr lang="en-US" sz="12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181CDB5-6E87-FA2E-8A84-F96E3D019810}"/>
              </a:ext>
            </a:extLst>
          </p:cNvPr>
          <p:cNvSpPr/>
          <p:nvPr/>
        </p:nvSpPr>
        <p:spPr>
          <a:xfrm>
            <a:off x="365760" y="14447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5步守护流程</a:t>
            </a:r>
            <a:endParaRPr lang="en-US" sz="13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D41937B-5829-7B1F-3891-813770DEDAD6}"/>
              </a:ext>
            </a:extLst>
          </p:cNvPr>
          <p:cNvSpPr/>
          <p:nvPr/>
        </p:nvSpPr>
        <p:spPr>
          <a:xfrm>
            <a:off x="365760" y="1828800"/>
            <a:ext cx="1609344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678DAE6-3EDD-8905-DB58-9EE10F21B04E}"/>
              </a:ext>
            </a:extLst>
          </p:cNvPr>
          <p:cNvSpPr/>
          <p:nvPr/>
        </p:nvSpPr>
        <p:spPr>
          <a:xfrm>
            <a:off x="365760" y="19019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35F85EE0-1299-1E44-799C-FCE517015CD3}"/>
              </a:ext>
            </a:extLst>
          </p:cNvPr>
          <p:cNvSpPr/>
          <p:nvPr/>
        </p:nvSpPr>
        <p:spPr>
          <a:xfrm>
            <a:off x="548640" y="2304288"/>
            <a:ext cx="1243584" cy="27432"/>
          </a:xfrm>
          <a:prstGeom prst="rect">
            <a:avLst/>
          </a:prstGeom>
          <a:solidFill>
            <a:srgbClr val="00B7FF">
              <a:alpha val="40000"/>
            </a:srgbClr>
          </a:solidFill>
          <a:ln/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A4366CF-FC24-EA42-0DA9-CBF15D4708E2}"/>
              </a:ext>
            </a:extLst>
          </p:cNvPr>
          <p:cNvSpPr/>
          <p:nvPr/>
        </p:nvSpPr>
        <p:spPr>
          <a:xfrm>
            <a:off x="365760" y="2377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裁剪最小守护集</a:t>
            </a:r>
            <a:endParaRPr lang="en-US" sz="11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3218B33-7323-DB24-18A7-04CE80DD0E14}"/>
              </a:ext>
            </a:extLst>
          </p:cNvPr>
          <p:cNvSpPr/>
          <p:nvPr/>
        </p:nvSpPr>
        <p:spPr>
          <a:xfrm>
            <a:off x="438912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74项按产品形态裁剪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输出本产品守护清单</a:t>
            </a:r>
            <a:endParaRPr lang="en-US" sz="9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5DACEDA-98A3-4C4D-376F-1EADE9D5A715}"/>
              </a:ext>
            </a:extLst>
          </p:cNvPr>
          <p:cNvSpPr/>
          <p:nvPr/>
        </p:nvSpPr>
        <p:spPr>
          <a:xfrm>
            <a:off x="2066544" y="1828800"/>
            <a:ext cx="1609344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8D59323-F0B6-D41C-4BC6-C25E575B06BC}"/>
              </a:ext>
            </a:extLst>
          </p:cNvPr>
          <p:cNvSpPr/>
          <p:nvPr/>
        </p:nvSpPr>
        <p:spPr>
          <a:xfrm>
            <a:off x="2066544" y="19019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AD16BF9-110F-0B0F-FC6F-14EC1E4B08AB}"/>
              </a:ext>
            </a:extLst>
          </p:cNvPr>
          <p:cNvSpPr/>
          <p:nvPr/>
        </p:nvSpPr>
        <p:spPr>
          <a:xfrm>
            <a:off x="2249424" y="2304288"/>
            <a:ext cx="1243584" cy="27432"/>
          </a:xfrm>
          <a:prstGeom prst="rect">
            <a:avLst/>
          </a:prstGeom>
          <a:solidFill>
            <a:srgbClr val="00B7FF">
              <a:alpha val="40000"/>
            </a:srgbClr>
          </a:solidFill>
          <a:ln/>
        </p:spPr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2F429E70-657E-BD15-217D-BA0ED681A992}"/>
              </a:ext>
            </a:extLst>
          </p:cNvPr>
          <p:cNvSpPr/>
          <p:nvPr/>
        </p:nvSpPr>
        <p:spPr>
          <a:xfrm>
            <a:off x="2066544" y="2377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填写与变更检查</a:t>
            </a:r>
            <a:endParaRPr lang="en-US" sz="11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D72B040-BF15-15DD-D6EB-856F719DBB41}"/>
              </a:ext>
            </a:extLst>
          </p:cNvPr>
          <p:cNvSpPr/>
          <p:nvPr/>
        </p:nvSpPr>
        <p:spPr>
          <a:xfrm>
            <a:off x="2139696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逐项填写守护项状态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资产变更时同步检查</a:t>
            </a:r>
            <a:endParaRPr lang="en-US" sz="9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988379DE-51B3-7556-16D2-13EC5AB8E888}"/>
              </a:ext>
            </a:extLst>
          </p:cNvPr>
          <p:cNvSpPr/>
          <p:nvPr/>
        </p:nvSpPr>
        <p:spPr>
          <a:xfrm>
            <a:off x="3767328" y="1828800"/>
            <a:ext cx="1609344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E00DE01-9F4A-6D1F-86E2-041E47FC04A8}"/>
              </a:ext>
            </a:extLst>
          </p:cNvPr>
          <p:cNvSpPr/>
          <p:nvPr/>
        </p:nvSpPr>
        <p:spPr>
          <a:xfrm>
            <a:off x="3767328" y="19019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B4DBE4BE-D110-4102-BA53-9B5923F3F59B}"/>
              </a:ext>
            </a:extLst>
          </p:cNvPr>
          <p:cNvSpPr/>
          <p:nvPr/>
        </p:nvSpPr>
        <p:spPr>
          <a:xfrm>
            <a:off x="3950208" y="2304288"/>
            <a:ext cx="1243584" cy="27432"/>
          </a:xfrm>
          <a:prstGeom prst="rect">
            <a:avLst/>
          </a:prstGeom>
          <a:solidFill>
            <a:srgbClr val="00B7FF">
              <a:alpha val="40000"/>
            </a:srgbClr>
          </a:solidFill>
          <a:ln/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F18866C-6BC5-EA9B-885D-DC36F50DC01F}"/>
              </a:ext>
            </a:extLst>
          </p:cNvPr>
          <p:cNvSpPr/>
          <p:nvPr/>
        </p:nvSpPr>
        <p:spPr>
          <a:xfrm>
            <a:off x="3767328" y="2377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变更审核</a:t>
            </a:r>
            <a:endParaRPr lang="en-US" sz="11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295D6BF-700C-0EC9-F96C-A9E928F25717}"/>
              </a:ext>
            </a:extLst>
          </p:cNvPr>
          <p:cNvSpPr/>
          <p:nvPr/>
        </p:nvSpPr>
        <p:spPr>
          <a:xfrm>
            <a:off x="384048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架构师审核所有变更项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确认跨平台接口影响</a:t>
            </a:r>
            <a:endParaRPr lang="en-US" sz="9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BD29661A-4FD3-FD3E-70C0-51F4C2B09962}"/>
              </a:ext>
            </a:extLst>
          </p:cNvPr>
          <p:cNvSpPr/>
          <p:nvPr/>
        </p:nvSpPr>
        <p:spPr>
          <a:xfrm>
            <a:off x="5468112" y="1828800"/>
            <a:ext cx="1609344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5948503-C416-A2D0-2922-520C553CD0CE}"/>
              </a:ext>
            </a:extLst>
          </p:cNvPr>
          <p:cNvSpPr/>
          <p:nvPr/>
        </p:nvSpPr>
        <p:spPr>
          <a:xfrm>
            <a:off x="5468112" y="19019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8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F3D74BA3-961A-9C11-5C23-8C9C8EB2B47A}"/>
              </a:ext>
            </a:extLst>
          </p:cNvPr>
          <p:cNvSpPr/>
          <p:nvPr/>
        </p:nvSpPr>
        <p:spPr>
          <a:xfrm>
            <a:off x="5650992" y="2304288"/>
            <a:ext cx="1243584" cy="27432"/>
          </a:xfrm>
          <a:prstGeom prst="rect">
            <a:avLst/>
          </a:prstGeom>
          <a:solidFill>
            <a:srgbClr val="00B7FF">
              <a:alpha val="40000"/>
            </a:srgbClr>
          </a:solidFill>
          <a:ln/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E6BA7170-6895-3F47-84DD-584B25CE6565}"/>
              </a:ext>
            </a:extLst>
          </p:cNvPr>
          <p:cNvSpPr/>
          <p:nvPr/>
        </p:nvSpPr>
        <p:spPr>
          <a:xfrm>
            <a:off x="5468112" y="2377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不合规项处置</a:t>
            </a:r>
            <a:endParaRPr lang="en-US" sz="11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F3F1240-98DE-B225-DEDE-97D83D6D35E3}"/>
              </a:ext>
            </a:extLst>
          </p:cNvPr>
          <p:cNvSpPr/>
          <p:nvPr/>
        </p:nvSpPr>
        <p:spPr>
          <a:xfrm>
            <a:off x="5541264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发现不合规立即补录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限期完成整改</a:t>
            </a:r>
            <a:endParaRPr lang="en-US" sz="9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8AA59B53-7BD6-2614-D239-719DB962F20D}"/>
              </a:ext>
            </a:extLst>
          </p:cNvPr>
          <p:cNvSpPr/>
          <p:nvPr/>
        </p:nvSpPr>
        <p:spPr>
          <a:xfrm>
            <a:off x="7168896" y="1828800"/>
            <a:ext cx="1609344" cy="1691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8909D58-2A59-3E32-45A4-1C8F60D43C9C}"/>
              </a:ext>
            </a:extLst>
          </p:cNvPr>
          <p:cNvSpPr/>
          <p:nvPr/>
        </p:nvSpPr>
        <p:spPr>
          <a:xfrm>
            <a:off x="7168896" y="19019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8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9662BFC8-B7D7-D014-EEF6-E9F9F2FB5411}"/>
              </a:ext>
            </a:extLst>
          </p:cNvPr>
          <p:cNvSpPr/>
          <p:nvPr/>
        </p:nvSpPr>
        <p:spPr>
          <a:xfrm>
            <a:off x="7351776" y="2304288"/>
            <a:ext cx="1243584" cy="27432"/>
          </a:xfrm>
          <a:prstGeom prst="rect">
            <a:avLst/>
          </a:prstGeom>
          <a:solidFill>
            <a:srgbClr val="00B7FF">
              <a:alpha val="40000"/>
            </a:srgbClr>
          </a:solidFill>
          <a:ln/>
        </p:spPr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9016B31F-56DF-7D89-D337-90A6A12B31EC}"/>
              </a:ext>
            </a:extLst>
          </p:cNvPr>
          <p:cNvSpPr/>
          <p:nvPr/>
        </p:nvSpPr>
        <p:spPr>
          <a:xfrm>
            <a:off x="7168896" y="237744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发版前一致性检查</a:t>
            </a:r>
            <a:endParaRPr lang="en-US" sz="1100" dirty="0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FE444148-BA9E-291A-90A3-EE34CC111980}"/>
              </a:ext>
            </a:extLst>
          </p:cNvPr>
          <p:cNvSpPr/>
          <p:nvPr/>
        </p:nvSpPr>
        <p:spPr>
          <a:xfrm>
            <a:off x="7242048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研发代表确保每次发布前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完成必查清单</a:t>
            </a:r>
            <a:endParaRPr lang="en-US" sz="90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3AC5E717-EB1A-5AD5-2056-6A5D6B208F54}"/>
              </a:ext>
            </a:extLst>
          </p:cNvPr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关键规则</a:t>
            </a:r>
            <a:endParaRPr lang="en-US" sz="1300" dirty="0"/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ACA81702-35AD-E5A0-50FE-4AF9C9128371}"/>
              </a:ext>
            </a:extLst>
          </p:cNvPr>
          <p:cNvSpPr/>
          <p:nvPr/>
        </p:nvSpPr>
        <p:spPr>
          <a:xfrm>
            <a:off x="365760" y="4023360"/>
            <a:ext cx="2011680" cy="8229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3A36492B-805B-65E3-6FE4-3CFC431A2531}"/>
              </a:ext>
            </a:extLst>
          </p:cNvPr>
          <p:cNvSpPr/>
          <p:nvPr/>
        </p:nvSpPr>
        <p:spPr>
          <a:xfrm>
            <a:off x="457200" y="4069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最小守护集</a:t>
            </a:r>
            <a:endParaRPr lang="en-US" sz="1100" dirty="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A37E1F1D-40F3-2131-136B-112BADF465D1}"/>
              </a:ext>
            </a:extLst>
          </p:cNvPr>
          <p:cNvSpPr/>
          <p:nvPr/>
        </p:nvSpPr>
        <p:spPr>
          <a:xfrm>
            <a:off x="457200" y="43251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74项按4种产品形态裁剪，各PDT输出守护清单，锁定为版本基线</a:t>
            </a:r>
            <a:endParaRPr lang="en-US" sz="900" dirty="0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BA4F154F-D038-8C42-DD9D-E98647892E48}"/>
              </a:ext>
            </a:extLst>
          </p:cNvPr>
          <p:cNvSpPr/>
          <p:nvPr/>
        </p:nvSpPr>
        <p:spPr>
          <a:xfrm>
            <a:off x="2496312" y="4023360"/>
            <a:ext cx="2011680" cy="8229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401E97D8-0E84-043E-FC3E-F6EC3ACB2DDF}"/>
              </a:ext>
            </a:extLst>
          </p:cNvPr>
          <p:cNvSpPr/>
          <p:nvPr/>
        </p:nvSpPr>
        <p:spPr>
          <a:xfrm>
            <a:off x="2587752" y="4069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裁剪规则</a:t>
            </a:r>
            <a:endParaRPr lang="en-US" sz="1100" dirty="0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BCED765A-8F2E-F6F6-4AC5-0174461D7E01}"/>
              </a:ext>
            </a:extLst>
          </p:cNvPr>
          <p:cNvSpPr/>
          <p:nvPr/>
        </p:nvSpPr>
        <p:spPr>
          <a:xfrm>
            <a:off x="2587752" y="43251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基础项不可裁剪，确需裁剪须架构办评审</a:t>
            </a:r>
            <a:endParaRPr lang="en-US" sz="900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2A0DE94D-F61A-6999-FD82-5DAE4BE59241}"/>
              </a:ext>
            </a:extLst>
          </p:cNvPr>
          <p:cNvSpPr/>
          <p:nvPr/>
        </p:nvSpPr>
        <p:spPr>
          <a:xfrm>
            <a:off x="4626864" y="4023360"/>
            <a:ext cx="2011680" cy="8229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FA8DE0D6-B67A-4D25-C7FB-236E68ED60D6}"/>
              </a:ext>
            </a:extLst>
          </p:cNvPr>
          <p:cNvSpPr/>
          <p:nvPr/>
        </p:nvSpPr>
        <p:spPr>
          <a:xfrm>
            <a:off x="4718304" y="4069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 自检要求</a:t>
            </a:r>
            <a:endParaRPr lang="en-US" sz="1100" dirty="0"/>
          </a:p>
        </p:txBody>
      </p:sp>
      <p:sp>
        <p:nvSpPr>
          <p:cNvPr id="79" name="Text 40">
            <a:extLst>
              <a:ext uri="{FF2B5EF4-FFF2-40B4-BE49-F238E27FC236}">
                <a16:creationId xmlns:a16="http://schemas.microsoft.com/office/drawing/2014/main" id="{BA934BB6-077A-C784-868C-606ACB5F0F9B}"/>
              </a:ext>
            </a:extLst>
          </p:cNvPr>
          <p:cNvSpPr/>
          <p:nvPr/>
        </p:nvSpPr>
        <p:spPr>
          <a:xfrm>
            <a:off x="4718304" y="43251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每月对照最小守护集自检完整率</a:t>
            </a:r>
            <a:endParaRPr lang="en-US" sz="900" dirty="0"/>
          </a:p>
        </p:txBody>
      </p:sp>
      <p:sp>
        <p:nvSpPr>
          <p:cNvPr id="80" name="Shape 41">
            <a:extLst>
              <a:ext uri="{FF2B5EF4-FFF2-40B4-BE49-F238E27FC236}">
                <a16:creationId xmlns:a16="http://schemas.microsoft.com/office/drawing/2014/main" id="{63A60D27-4064-DADD-279C-65D8D43A7AA7}"/>
              </a:ext>
            </a:extLst>
          </p:cNvPr>
          <p:cNvSpPr/>
          <p:nvPr/>
        </p:nvSpPr>
        <p:spPr>
          <a:xfrm>
            <a:off x="6757416" y="4023360"/>
            <a:ext cx="2011680" cy="82296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1" name="Text 42">
            <a:extLst>
              <a:ext uri="{FF2B5EF4-FFF2-40B4-BE49-F238E27FC236}">
                <a16:creationId xmlns:a16="http://schemas.microsoft.com/office/drawing/2014/main" id="{06D4AFBC-63AA-340E-2C9B-A87BD8463375}"/>
              </a:ext>
            </a:extLst>
          </p:cNvPr>
          <p:cNvSpPr/>
          <p:nvPr/>
        </p:nvSpPr>
        <p:spPr>
          <a:xfrm>
            <a:off x="6848856" y="40690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🚀 发版必查</a:t>
            </a:r>
            <a:endParaRPr lang="en-US" sz="1100" dirty="0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EBE55081-B351-A1F5-C796-C18FFB52D1FB}"/>
              </a:ext>
            </a:extLst>
          </p:cNvPr>
          <p:cNvSpPr/>
          <p:nvPr/>
        </p:nvSpPr>
        <p:spPr>
          <a:xfrm>
            <a:off x="6848856" y="43251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研发代表确保每次发布前完成一致性检查和必查清单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4836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3E416-6058-0D47-335A-26C60C0D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931FD6A-6B97-A608-377A-9D6BCA0B6B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9592" y="239611"/>
            <a:ext cx="6408712" cy="504056"/>
          </a:xfrm>
        </p:spPr>
        <p:txBody>
          <a:bodyPr/>
          <a:lstStyle/>
          <a:p>
            <a:r>
              <a:rPr lang="zh-CN" altLang="en-US" dirty="0"/>
              <a:t>设计缺陷度量与分析</a:t>
            </a: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54B67E07-AD3C-6CF2-08D4-5FEBA76DDFA2}"/>
              </a:ext>
            </a:extLst>
          </p:cNvPr>
          <p:cNvSpPr/>
          <p:nvPr/>
        </p:nvSpPr>
        <p:spPr>
          <a:xfrm>
            <a:off x="36576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设计质量闭环治理机制</a:t>
            </a:r>
            <a:endParaRPr lang="en-US" sz="13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41A578B8-8714-37FF-6A5F-4FF4BE365B4D}"/>
              </a:ext>
            </a:extLst>
          </p:cNvPr>
          <p:cNvSpPr/>
          <p:nvPr/>
        </p:nvSpPr>
        <p:spPr>
          <a:xfrm>
            <a:off x="365760" y="1051560"/>
            <a:ext cx="4114800" cy="7498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A9B962F3-14AB-4E66-C934-3B0BAB22A5F3}"/>
              </a:ext>
            </a:extLst>
          </p:cNvPr>
          <p:cNvSpPr/>
          <p:nvPr/>
        </p:nvSpPr>
        <p:spPr>
          <a:xfrm>
            <a:off x="365760" y="1051560"/>
            <a:ext cx="54864" cy="749808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0EB590EB-7E19-F895-8F1D-835BBD66E5F4}"/>
              </a:ext>
            </a:extLst>
          </p:cNvPr>
          <p:cNvSpPr/>
          <p:nvPr/>
        </p:nvSpPr>
        <p:spPr>
          <a:xfrm>
            <a:off x="512064" y="1152144"/>
            <a:ext cx="274320" cy="274320"/>
          </a:xfrm>
          <a:prstGeom prst="ellipse">
            <a:avLst/>
          </a:prstGeom>
          <a:solidFill>
            <a:srgbClr val="08409C"/>
          </a:solidFill>
          <a:ln/>
        </p:spPr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68CE1A64-8FEE-73C6-665F-7D685E01ACEE}"/>
              </a:ext>
            </a:extLst>
          </p:cNvPr>
          <p:cNvSpPr/>
          <p:nvPr/>
        </p:nvSpPr>
        <p:spPr>
          <a:xfrm>
            <a:off x="512064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FA8884A8-1873-8EF2-2349-71DD2F3D1DE6}"/>
              </a:ext>
            </a:extLst>
          </p:cNvPr>
          <p:cNvSpPr/>
          <p:nvPr/>
        </p:nvSpPr>
        <p:spPr>
          <a:xfrm>
            <a:off x="859536" y="1106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缺陷引入原因分类</a:t>
            </a:r>
            <a:endParaRPr lang="en-US" sz="105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5E2173BB-1832-0309-6F01-D9ED117037C7}"/>
              </a:ext>
            </a:extLst>
          </p:cNvPr>
          <p:cNvSpPr/>
          <p:nvPr/>
        </p:nvSpPr>
        <p:spPr>
          <a:xfrm>
            <a:off x="859536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准确认定引入原因：需求 / 设计 / 编码 / 配置 / 测试 / 环境 / 运维</a:t>
            </a:r>
            <a:endParaRPr lang="en-US" sz="90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4FCD4967-A185-72B1-FE05-C425A95044E9}"/>
              </a:ext>
            </a:extLst>
          </p:cNvPr>
          <p:cNvSpPr/>
          <p:nvPr/>
        </p:nvSpPr>
        <p:spPr>
          <a:xfrm>
            <a:off x="365760" y="1874520"/>
            <a:ext cx="4114800" cy="7498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71EC3D48-3CFD-E1A0-B500-ED7F07A8CF97}"/>
              </a:ext>
            </a:extLst>
          </p:cNvPr>
          <p:cNvSpPr/>
          <p:nvPr/>
        </p:nvSpPr>
        <p:spPr>
          <a:xfrm>
            <a:off x="365760" y="1874520"/>
            <a:ext cx="54864" cy="749808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A4C77AFE-1980-6B9E-A82D-09A160F43B58}"/>
              </a:ext>
            </a:extLst>
          </p:cNvPr>
          <p:cNvSpPr/>
          <p:nvPr/>
        </p:nvSpPr>
        <p:spPr>
          <a:xfrm>
            <a:off x="512064" y="1975104"/>
            <a:ext cx="274320" cy="274320"/>
          </a:xfrm>
          <a:prstGeom prst="ellipse">
            <a:avLst/>
          </a:prstGeom>
          <a:solidFill>
            <a:srgbClr val="0059E9"/>
          </a:solidFill>
          <a:ln/>
        </p:spPr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683DEE36-7635-CF15-6888-939F27071D4B}"/>
              </a:ext>
            </a:extLst>
          </p:cNvPr>
          <p:cNvSpPr/>
          <p:nvPr/>
        </p:nvSpPr>
        <p:spPr>
          <a:xfrm>
            <a:off x="512064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0FBE6B6-FE30-2172-E52B-0EABAA730A81}"/>
              </a:ext>
            </a:extLst>
          </p:cNvPr>
          <p:cNvSpPr/>
          <p:nvPr/>
        </p:nvSpPr>
        <p:spPr>
          <a:xfrm>
            <a:off x="859536" y="1929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设计问题识别</a:t>
            </a:r>
            <a:endParaRPr lang="en-US" sz="10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64003F79-673D-8A2F-4B7B-33B3FBFDCDDA}"/>
              </a:ext>
            </a:extLst>
          </p:cNvPr>
          <p:cNvSpPr/>
          <p:nvPr/>
        </p:nvSpPr>
        <p:spPr>
          <a:xfrm>
            <a:off x="859536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识别设计阶段可预防问题，映射 DFx / 问题场景</a:t>
            </a:r>
            <a:endParaRPr lang="en-US" sz="900" dirty="0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E3C0E537-D241-704C-5B15-2735C6D0458B}"/>
              </a:ext>
            </a:extLst>
          </p:cNvPr>
          <p:cNvSpPr/>
          <p:nvPr/>
        </p:nvSpPr>
        <p:spPr>
          <a:xfrm>
            <a:off x="365760" y="2697480"/>
            <a:ext cx="4114800" cy="7498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48D50EED-2067-349D-BB4B-7EAB1C50247D}"/>
              </a:ext>
            </a:extLst>
          </p:cNvPr>
          <p:cNvSpPr/>
          <p:nvPr/>
        </p:nvSpPr>
        <p:spPr>
          <a:xfrm>
            <a:off x="365760" y="2697480"/>
            <a:ext cx="54864" cy="749808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00095D99-18DC-27F0-F10C-FDB35886DC2F}"/>
              </a:ext>
            </a:extLst>
          </p:cNvPr>
          <p:cNvSpPr/>
          <p:nvPr/>
        </p:nvSpPr>
        <p:spPr>
          <a:xfrm>
            <a:off x="512064" y="2798064"/>
            <a:ext cx="274320" cy="274320"/>
          </a:xfrm>
          <a:prstGeom prst="ellipse">
            <a:avLst/>
          </a:prstGeom>
          <a:solidFill>
            <a:srgbClr val="00B7FF"/>
          </a:solidFill>
          <a:ln/>
        </p:spPr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A5E00052-448B-92CC-18B6-A8CC33817DAC}"/>
              </a:ext>
            </a:extLst>
          </p:cNvPr>
          <p:cNvSpPr/>
          <p:nvPr/>
        </p:nvSpPr>
        <p:spPr>
          <a:xfrm>
            <a:off x="512064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7DF92A58-F5E7-8D17-03E7-7CC3CF740A86}"/>
              </a:ext>
            </a:extLst>
          </p:cNvPr>
          <p:cNvSpPr/>
          <p:nvPr/>
        </p:nvSpPr>
        <p:spPr>
          <a:xfrm>
            <a:off x="859536" y="2752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指引沉淀与修订</a:t>
            </a:r>
            <a:endParaRPr lang="en-US" sz="105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AF737086-0058-6F05-43F5-F40FF32F6AB2}"/>
              </a:ext>
            </a:extLst>
          </p:cNvPr>
          <p:cNvSpPr/>
          <p:nvPr/>
        </p:nvSpPr>
        <p:spPr>
          <a:xfrm>
            <a:off x="859536" y="3035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校验已有指引覆盖；未覆盖则新增，不充分则修订</a:t>
            </a:r>
            <a:endParaRPr lang="en-US" sz="9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F9A7AD64-4471-6ECE-A625-BC60EB6CDD70}"/>
              </a:ext>
            </a:extLst>
          </p:cNvPr>
          <p:cNvSpPr/>
          <p:nvPr/>
        </p:nvSpPr>
        <p:spPr>
          <a:xfrm>
            <a:off x="365760" y="3520440"/>
            <a:ext cx="4114800" cy="74980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1A57424B-8E3C-56D2-24E1-09A55ABDC357}"/>
              </a:ext>
            </a:extLst>
          </p:cNvPr>
          <p:cNvSpPr/>
          <p:nvPr/>
        </p:nvSpPr>
        <p:spPr>
          <a:xfrm>
            <a:off x="365760" y="3520440"/>
            <a:ext cx="548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E1D84429-8AC0-B8A2-558F-5BEDA30C7C21}"/>
              </a:ext>
            </a:extLst>
          </p:cNvPr>
          <p:cNvSpPr/>
          <p:nvPr/>
        </p:nvSpPr>
        <p:spPr>
          <a:xfrm>
            <a:off x="512064" y="3621024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4F0D2F9A-3733-643B-46E1-CC9E377C4C53}"/>
              </a:ext>
            </a:extLst>
          </p:cNvPr>
          <p:cNvSpPr/>
          <p:nvPr/>
        </p:nvSpPr>
        <p:spPr>
          <a:xfrm>
            <a:off x="512064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F5DE5B26-AB85-4771-2DA8-69D4455442AD}"/>
              </a:ext>
            </a:extLst>
          </p:cNvPr>
          <p:cNvSpPr/>
          <p:nvPr/>
        </p:nvSpPr>
        <p:spPr>
          <a:xfrm>
            <a:off x="859536" y="3575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评审应用与复盘</a:t>
            </a:r>
            <a:endParaRPr lang="en-US" sz="105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AFBCFC3D-556F-E4CA-7AB3-8A9ED67835B7}"/>
              </a:ext>
            </a:extLst>
          </p:cNvPr>
          <p:cNvSpPr/>
          <p:nvPr/>
        </p:nvSpPr>
        <p:spPr>
          <a:xfrm>
            <a:off x="859536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用于方案设计、架构/设计评审、月度缺陷复盘</a:t>
            </a:r>
            <a:endParaRPr lang="en-US" sz="90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B68BE744-B8D5-184D-1AE4-9F81837457E9}"/>
              </a:ext>
            </a:extLst>
          </p:cNvPr>
          <p:cNvSpPr/>
          <p:nvPr/>
        </p:nvSpPr>
        <p:spPr>
          <a:xfrm>
            <a:off x="4709160" y="685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接下来要做</a:t>
            </a:r>
            <a:endParaRPr lang="en-US" sz="1300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286909E1-B389-82FE-5F4B-45D5843A519E}"/>
              </a:ext>
            </a:extLst>
          </p:cNvPr>
          <p:cNvSpPr/>
          <p:nvPr/>
        </p:nvSpPr>
        <p:spPr>
          <a:xfrm>
            <a:off x="4709160" y="1024128"/>
            <a:ext cx="40233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35745BDE-A54B-E21B-C009-33EC08A1F6CA}"/>
              </a:ext>
            </a:extLst>
          </p:cNvPr>
          <p:cNvSpPr/>
          <p:nvPr/>
        </p:nvSpPr>
        <p:spPr>
          <a:xfrm>
            <a:off x="4709160" y="1024128"/>
            <a:ext cx="64008" cy="1481328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025A520B-B655-8633-B510-BA42DC7D0889}"/>
              </a:ext>
            </a:extLst>
          </p:cNvPr>
          <p:cNvSpPr/>
          <p:nvPr/>
        </p:nvSpPr>
        <p:spPr>
          <a:xfrm>
            <a:off x="4828032" y="13533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完善缺陷引入原因分类指引，提升归因准确性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补齐并完善各类 DFx 设计指引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持续通过月度缺陷复盘扩展问题场景指引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推动指引进入设计评审、架构评审、方案评审流程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 AI 化：将指引转化为 AI Skill，辅助设计编写与评审</a:t>
            </a:r>
            <a:endParaRPr lang="en-US" sz="950" dirty="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A80732A5-2995-ACED-990C-C949BC1F62E7}"/>
              </a:ext>
            </a:extLst>
          </p:cNvPr>
          <p:cNvSpPr/>
          <p:nvPr/>
        </p:nvSpPr>
        <p:spPr>
          <a:xfrm>
            <a:off x="4709160" y="2606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要求</a:t>
            </a:r>
            <a:endParaRPr lang="en-US" sz="1300" dirty="0"/>
          </a:p>
        </p:txBody>
      </p:sp>
      <p:sp>
        <p:nvSpPr>
          <p:cNvPr id="60" name="Shape 32">
            <a:extLst>
              <a:ext uri="{FF2B5EF4-FFF2-40B4-BE49-F238E27FC236}">
                <a16:creationId xmlns:a16="http://schemas.microsoft.com/office/drawing/2014/main" id="{E9FA6C1B-3A74-E8C0-A629-6F81AE512B6A}"/>
              </a:ext>
            </a:extLst>
          </p:cNvPr>
          <p:cNvSpPr/>
          <p:nvPr/>
        </p:nvSpPr>
        <p:spPr>
          <a:xfrm>
            <a:off x="4709160" y="292608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33">
            <a:extLst>
              <a:ext uri="{FF2B5EF4-FFF2-40B4-BE49-F238E27FC236}">
                <a16:creationId xmlns:a16="http://schemas.microsoft.com/office/drawing/2014/main" id="{88427895-2E8A-27D6-B8BF-AEC30A7F02BB}"/>
              </a:ext>
            </a:extLst>
          </p:cNvPr>
          <p:cNvSpPr/>
          <p:nvPr/>
        </p:nvSpPr>
        <p:spPr>
          <a:xfrm>
            <a:off x="4709160" y="2926080"/>
            <a:ext cx="64008" cy="1371600"/>
          </a:xfrm>
          <a:prstGeom prst="rect">
            <a:avLst/>
          </a:prstGeom>
          <a:solidFill>
            <a:srgbClr val="00B7FF"/>
          </a:solidFill>
          <a:ln/>
        </p:spPr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92311DA4-7E4E-1F30-C959-5A24F213131A}"/>
              </a:ext>
            </a:extLst>
          </p:cNvPr>
          <p:cNvSpPr/>
          <p:nvPr/>
        </p:nvSpPr>
        <p:spPr>
          <a:xfrm>
            <a:off x="4828032" y="324612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缺陷分析时，先按引入原因分类指引完成准确归因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方案设计时，主动查阅并引用对应设计指引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设计评审时，按指引逐项自查和校验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发现未覆盖问题及时反馈，参与指引共建</a:t>
            </a:r>
            <a:endParaRPr lang="en-US" sz="950" dirty="0"/>
          </a:p>
        </p:txBody>
      </p:sp>
      <p:sp>
        <p:nvSpPr>
          <p:cNvPr id="63" name="Shape 35">
            <a:extLst>
              <a:ext uri="{FF2B5EF4-FFF2-40B4-BE49-F238E27FC236}">
                <a16:creationId xmlns:a16="http://schemas.microsoft.com/office/drawing/2014/main" id="{5D0866B6-32A0-7EB7-5ADC-C9F6BAD55DDC}"/>
              </a:ext>
            </a:extLst>
          </p:cNvPr>
          <p:cNvSpPr/>
          <p:nvPr/>
        </p:nvSpPr>
        <p:spPr>
          <a:xfrm>
            <a:off x="365760" y="4370832"/>
            <a:ext cx="8412480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00B7FF"/>
            </a:solidFill>
            <a:prstDash val="solid"/>
          </a:ln>
        </p:spPr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53D34765-A85A-9643-444F-0C42AEA1729A}"/>
              </a:ext>
            </a:extLst>
          </p:cNvPr>
          <p:cNvSpPr/>
          <p:nvPr/>
        </p:nvSpPr>
        <p:spPr>
          <a:xfrm>
            <a:off x="502920" y="43708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9E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度量指标</a:t>
            </a:r>
            <a:endParaRPr lang="en-US" sz="1100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53F3D794-D22E-C1D7-9B89-77125A706102}"/>
              </a:ext>
            </a:extLst>
          </p:cNvPr>
          <p:cNvSpPr/>
          <p:nvPr/>
        </p:nvSpPr>
        <p:spPr>
          <a:xfrm>
            <a:off x="1600200" y="4407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设计遗漏缺陷密度 同比降低 50%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现场缺陷指数密度（设计遗漏）建立半年度基线后考核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综合质量指标（投诉 + 故障 + 守护缺陷 + 新增负债）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5093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CC11-9887-A95B-08C9-F1484CDB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28AF4C-BC81-4A97-78AF-C411D7EC5D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99592" y="239611"/>
            <a:ext cx="6408712" cy="504056"/>
          </a:xfrm>
        </p:spPr>
        <p:txBody>
          <a:bodyPr/>
          <a:lstStyle/>
          <a:p>
            <a:r>
              <a:rPr lang="zh-CN" altLang="en-US" dirty="0"/>
              <a:t>配套机制与各方职责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1CB18DC7-CBDA-DAF4-6B36-9C0F8BBFB6C5}"/>
              </a:ext>
            </a:extLst>
          </p:cNvPr>
          <p:cNvSpPr/>
          <p:nvPr/>
        </p:nvSpPr>
        <p:spPr>
          <a:xfrm>
            <a:off x="365760" y="731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配套机制</a:t>
            </a:r>
            <a:endParaRPr lang="en-US" sz="13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0983ADF-3704-0809-8FD2-ADC0A343BC88}"/>
              </a:ext>
            </a:extLst>
          </p:cNvPr>
          <p:cNvSpPr/>
          <p:nvPr/>
        </p:nvSpPr>
        <p:spPr>
          <a:xfrm>
            <a:off x="365760" y="1097280"/>
            <a:ext cx="4023360" cy="804672"/>
          </a:xfrm>
          <a:prstGeom prst="rect">
            <a:avLst/>
          </a:prstGeom>
          <a:solidFill>
            <a:srgbClr val="F0F7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7A45D93-5C1E-B36F-FDBE-E59D92B7A13E}"/>
              </a:ext>
            </a:extLst>
          </p:cNvPr>
          <p:cNvSpPr/>
          <p:nvPr/>
        </p:nvSpPr>
        <p:spPr>
          <a:xfrm>
            <a:off x="365760" y="1097280"/>
            <a:ext cx="54864" cy="804672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998A086-5E98-E76C-5D58-1217FA055508}"/>
              </a:ext>
            </a:extLst>
          </p:cNvPr>
          <p:cNvSpPr/>
          <p:nvPr/>
        </p:nvSpPr>
        <p:spPr>
          <a:xfrm>
            <a:off x="502920" y="11430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能力建设机制</a:t>
            </a:r>
            <a:endParaRPr lang="en-US" sz="11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25212C3-E603-A4FA-06EC-BF1D058A7FF5}"/>
              </a:ext>
            </a:extLst>
          </p:cNvPr>
          <p:cNvSpPr/>
          <p:nvPr/>
        </p:nvSpPr>
        <p:spPr>
          <a:xfrm>
            <a:off x="502920" y="13990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明确架构体系能力要求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建立培训、案例、实战演练机制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架构设计人员盘点和培训全覆盖</a:t>
            </a:r>
            <a:endParaRPr lang="en-US" sz="9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5C5C182-1C37-C569-7152-850953596408}"/>
              </a:ext>
            </a:extLst>
          </p:cNvPr>
          <p:cNvSpPr/>
          <p:nvPr/>
        </p:nvSpPr>
        <p:spPr>
          <a:xfrm>
            <a:off x="365760" y="2011680"/>
            <a:ext cx="4023360" cy="8046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F3271C8-0CBC-616E-986F-684998435DF7}"/>
              </a:ext>
            </a:extLst>
          </p:cNvPr>
          <p:cNvSpPr/>
          <p:nvPr/>
        </p:nvSpPr>
        <p:spPr>
          <a:xfrm>
            <a:off x="365760" y="2011680"/>
            <a:ext cx="54864" cy="804672"/>
          </a:xfrm>
          <a:prstGeom prst="rect">
            <a:avLst/>
          </a:prstGeom>
          <a:solidFill>
            <a:srgbClr val="0059E9"/>
          </a:solidFill>
          <a:ln/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D51D6A5-898C-1243-707A-5D84CAE62F58}"/>
              </a:ext>
            </a:extLst>
          </p:cNvPr>
          <p:cNvSpPr/>
          <p:nvPr/>
        </p:nvSpPr>
        <p:spPr>
          <a:xfrm>
            <a:off x="502920" y="20574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流程/工具改造</a:t>
            </a:r>
            <a:endParaRPr lang="en-US" sz="11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5CB4A42-B170-482D-9266-402D8E63778F}"/>
              </a:ext>
            </a:extLst>
          </p:cNvPr>
          <p:cNvSpPr/>
          <p:nvPr/>
        </p:nvSpPr>
        <p:spPr>
          <a:xfrm>
            <a:off x="502920" y="23134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优化OBP/Release立项模板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建立需求等级定义及审核标准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效能及HEP改造适配</a:t>
            </a:r>
            <a:endParaRPr lang="en-US" sz="9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DAE9DC9-C5E4-617C-94A0-223831D75612}"/>
              </a:ext>
            </a:extLst>
          </p:cNvPr>
          <p:cNvSpPr/>
          <p:nvPr/>
        </p:nvSpPr>
        <p:spPr>
          <a:xfrm>
            <a:off x="365760" y="2926080"/>
            <a:ext cx="4023360" cy="804672"/>
          </a:xfrm>
          <a:prstGeom prst="rect">
            <a:avLst/>
          </a:prstGeom>
          <a:solidFill>
            <a:srgbClr val="F0F7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F7C8CE3-FA5A-A7D8-043D-2E9CF93C18D4}"/>
              </a:ext>
            </a:extLst>
          </p:cNvPr>
          <p:cNvSpPr/>
          <p:nvPr/>
        </p:nvSpPr>
        <p:spPr>
          <a:xfrm>
            <a:off x="365760" y="2926080"/>
            <a:ext cx="54864" cy="804672"/>
          </a:xfrm>
          <a:prstGeom prst="rect">
            <a:avLst/>
          </a:prstGeom>
          <a:solidFill>
            <a:srgbClr val="08409C"/>
          </a:solidFill>
          <a:ln/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64997BB-A54E-4617-C32B-F4B53105A42B}"/>
              </a:ext>
            </a:extLst>
          </p:cNvPr>
          <p:cNvSpPr/>
          <p:nvPr/>
        </p:nvSpPr>
        <p:spPr>
          <a:xfrm>
            <a:off x="502920" y="2971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定期审视</a:t>
            </a:r>
            <a:endParaRPr lang="en-US" sz="11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F5D1F2F-A02F-0474-4288-C08F7B1519AF}"/>
              </a:ext>
            </a:extLst>
          </p:cNvPr>
          <p:cNvSpPr/>
          <p:nvPr/>
        </p:nvSpPr>
        <p:spPr>
          <a:xfrm>
            <a:off x="502920" y="32278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审视流程执行情况（关注做没做）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检查重点交付件（准确性、完整性、一致性）</a:t>
            </a:r>
            <a:endParaRPr lang="en-US" sz="9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2250EDD-5ED2-BE94-D120-B5825AC7DDDC}"/>
              </a:ext>
            </a:extLst>
          </p:cNvPr>
          <p:cNvSpPr/>
          <p:nvPr/>
        </p:nvSpPr>
        <p:spPr>
          <a:xfrm>
            <a:off x="4754880" y="731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40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各方职责</a:t>
            </a:r>
            <a:endParaRPr lang="en-US" sz="13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CDA84E2-D733-D612-6C1C-06FF7816266D}"/>
              </a:ext>
            </a:extLst>
          </p:cNvPr>
          <p:cNvSpPr/>
          <p:nvPr/>
        </p:nvSpPr>
        <p:spPr>
          <a:xfrm>
            <a:off x="4754880" y="1097280"/>
            <a:ext cx="40233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840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6BA12E01-1332-CD8C-B0C0-24E29886AF3E}"/>
              </a:ext>
            </a:extLst>
          </p:cNvPr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solidFill>
            <a:srgbClr val="08409C">
              <a:alpha val="90000"/>
            </a:srgbClr>
          </a:solidFill>
          <a:ln/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298A6D24-EA7A-2772-3AA0-0F443CB68384}"/>
              </a:ext>
            </a:extLst>
          </p:cNvPr>
          <p:cNvSpPr/>
          <p:nvPr/>
        </p:nvSpPr>
        <p:spPr>
          <a:xfrm>
            <a:off x="484632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PDT负责人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C7683346-EB86-119B-7610-743027DC74CE}"/>
              </a:ext>
            </a:extLst>
          </p:cNvPr>
          <p:cNvSpPr/>
          <p:nvPr/>
        </p:nvSpPr>
        <p:spPr>
          <a:xfrm>
            <a:off x="4846320" y="13898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确保预分析模板落地执行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组织裁剪最小守护集并锁定基线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推动设计缺陷 T+1 复盘</a:t>
            </a:r>
            <a:endParaRPr lang="en-US" sz="9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75BEC08A-5348-6BD3-73AC-98EFF3483552}"/>
              </a:ext>
            </a:extLst>
          </p:cNvPr>
          <p:cNvSpPr/>
          <p:nvPr/>
        </p:nvSpPr>
        <p:spPr>
          <a:xfrm>
            <a:off x="4754880" y="2011680"/>
            <a:ext cx="40233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59E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F13CEFF4-9A2F-322E-2440-CCCE13BE5142}"/>
              </a:ext>
            </a:extLst>
          </p:cNvPr>
          <p:cNvSpPr/>
          <p:nvPr/>
        </p:nvSpPr>
        <p:spPr>
          <a:xfrm>
            <a:off x="4754880" y="2011680"/>
            <a:ext cx="4023360" cy="256032"/>
          </a:xfrm>
          <a:prstGeom prst="rect">
            <a:avLst/>
          </a:prstGeom>
          <a:solidFill>
            <a:srgbClr val="0059E9">
              <a:alpha val="90000"/>
            </a:srgbClr>
          </a:solidFill>
          <a:ln/>
        </p:spPr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13F7301-348A-840F-999A-E3830BAF84C7}"/>
              </a:ext>
            </a:extLst>
          </p:cNvPr>
          <p:cNvSpPr/>
          <p:nvPr/>
        </p:nvSpPr>
        <p:spPr>
          <a:xfrm>
            <a:off x="484632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架构师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B0E1CD89-D3A8-FE22-309A-08904C1E3594}"/>
              </a:ext>
            </a:extLst>
          </p:cNvPr>
          <p:cNvSpPr/>
          <p:nvPr/>
        </p:nvSpPr>
        <p:spPr>
          <a:xfrm>
            <a:off x="4846320" y="23042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准确完成缺陷引入原因分类与归因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方案设计主动查阅并引用设计指引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设计评审时按指引逐项自查校验</a:t>
            </a:r>
            <a:endParaRPr lang="en-US" sz="9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A3C0D583-A0AB-742B-3943-A887E328BCD0}"/>
              </a:ext>
            </a:extLst>
          </p:cNvPr>
          <p:cNvSpPr/>
          <p:nvPr/>
        </p:nvSpPr>
        <p:spPr>
          <a:xfrm>
            <a:off x="4754880" y="2926080"/>
            <a:ext cx="40233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0B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5D07A16A-1244-369B-2BA8-272A79D47F1F}"/>
              </a:ext>
            </a:extLst>
          </p:cNvPr>
          <p:cNvSpPr/>
          <p:nvPr/>
        </p:nvSpPr>
        <p:spPr>
          <a:xfrm>
            <a:off x="4754880" y="2926080"/>
            <a:ext cx="4023360" cy="256032"/>
          </a:xfrm>
          <a:prstGeom prst="rect">
            <a:avLst/>
          </a:prstGeom>
          <a:solidFill>
            <a:srgbClr val="00B7FF">
              <a:alpha val="90000"/>
            </a:srgbClr>
          </a:solidFill>
          <a:ln/>
        </p:spPr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328E08D6-C2D2-E7F4-7E85-00447490EC03}"/>
              </a:ext>
            </a:extLst>
          </p:cNvPr>
          <p:cNvSpPr/>
          <p:nvPr/>
        </p:nvSpPr>
        <p:spPr>
          <a:xfrm>
            <a:off x="484632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版本系统工程师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226C29F5-8D98-928E-546A-2B5589270A07}"/>
              </a:ext>
            </a:extLst>
          </p:cNvPr>
          <p:cNvSpPr/>
          <p:nvPr/>
        </p:nvSpPr>
        <p:spPr>
          <a:xfrm>
            <a:off x="4846320" y="32186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逐项填写守护项状态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资产变更时同步HEP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处理不合规项</a:t>
            </a:r>
            <a:endParaRPr lang="en-US" sz="900" dirty="0"/>
          </a:p>
        </p:txBody>
      </p:sp>
      <p:sp>
        <p:nvSpPr>
          <p:cNvPr id="69" name="Shape 32">
            <a:extLst>
              <a:ext uri="{FF2B5EF4-FFF2-40B4-BE49-F238E27FC236}">
                <a16:creationId xmlns:a16="http://schemas.microsoft.com/office/drawing/2014/main" id="{FFFB51A8-3DAD-6181-4DBE-FBF9A54A1200}"/>
              </a:ext>
            </a:extLst>
          </p:cNvPr>
          <p:cNvSpPr/>
          <p:nvPr/>
        </p:nvSpPr>
        <p:spPr>
          <a:xfrm>
            <a:off x="4754880" y="3840480"/>
            <a:ext cx="40233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05378671-594C-6B21-3AF3-1F66CA47B72E}"/>
              </a:ext>
            </a:extLst>
          </p:cNvPr>
          <p:cNvSpPr/>
          <p:nvPr/>
        </p:nvSpPr>
        <p:spPr>
          <a:xfrm>
            <a:off x="4754880" y="3840480"/>
            <a:ext cx="4023360" cy="256032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99FAC655-BD95-DE0C-3B61-478A732C2682}"/>
              </a:ext>
            </a:extLst>
          </p:cNvPr>
          <p:cNvSpPr/>
          <p:nvPr/>
        </p:nvSpPr>
        <p:spPr>
          <a:xfrm>
            <a:off x="484632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研发代表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88F9D92F-4C70-D013-D8F1-A9E6A4CAD69D}"/>
              </a:ext>
            </a:extLst>
          </p:cNvPr>
          <p:cNvSpPr/>
          <p:nvPr/>
        </p:nvSpPr>
        <p:spPr>
          <a:xfrm>
            <a:off x="4846320" y="413308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确保发版前完成一致性检查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执行发布前必查清单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890998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8cbc63a-f395-49d2-b2a4-8f4869f23985"/>
  <p:tag name="COMMONDATA" val="eyJoZGlkIjoiZDU5Mjk3OWU1NTljY2VlZGI0Mjc2YzQwZGIxNDIyNG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441</Words>
  <Application>Microsoft Macintosh PowerPoint</Application>
  <PresentationFormat>全屏显示(16:9)</PresentationFormat>
  <Paragraphs>144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微软雅黑</vt:lpstr>
      <vt:lpstr>Arial</vt:lpstr>
      <vt:lpstr>Impact</vt:lpstr>
      <vt:lpstr>Office 主题​​</vt:lpstr>
      <vt:lpstr>设计质量治理宣贯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新一代产品</dc:title>
  <dc:creator>恒生电子</dc:creator>
  <cp:lastModifiedBy>Microsoft Office User</cp:lastModifiedBy>
  <cp:revision>119</cp:revision>
  <dcterms:created xsi:type="dcterms:W3CDTF">2026-04-17T03:05:37Z</dcterms:created>
  <dcterms:modified xsi:type="dcterms:W3CDTF">2026-07-06T02:46:05Z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2052-11.8.2.10440</vt:lpwstr>
  </property>
  <property fmtid="{D5CDD505-2E9C-101B-9397-08002B2CF9AE}" pid="3" name="ICV">
    <vt:lpwstr>8C58823DCD1D4B87838FF361CF27CD7A</vt:lpwstr>
  </property>
</Properties>
</file>