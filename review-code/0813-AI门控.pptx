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16141377" r:id="rId3"/>
    <p:sldId id="261" r:id="rId4"/>
    <p:sldId id="16141368" r:id="rId5"/>
    <p:sldId id="16141374" r:id="rId6"/>
    <p:sldId id="16141370" r:id="rId7"/>
    <p:sldId id="16141364" r:id="rId8"/>
    <p:sldId id="16141378" r:id="rId9"/>
    <p:sldId id="16141365" r:id="rId10"/>
    <p:sldId id="16141366" r:id="rId11"/>
    <p:sldId id="16141369" r:id="rId12"/>
    <p:sldId id="16141372" r:id="rId13"/>
    <p:sldId id="16141376" r:id="rId14"/>
    <p:sldId id="16141373" r:id="rId15"/>
    <p:sldId id="1614136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48A9025-2A2C-4627-9AC7-C2475282B894}">
          <p14:sldIdLst>
            <p14:sldId id="258"/>
            <p14:sldId id="16141377"/>
            <p14:sldId id="261"/>
            <p14:sldId id="16141368"/>
            <p14:sldId id="16141374"/>
            <p14:sldId id="16141370"/>
            <p14:sldId id="16141364"/>
            <p14:sldId id="16141378"/>
            <p14:sldId id="16141365"/>
            <p14:sldId id="16141366"/>
            <p14:sldId id="16141369"/>
            <p14:sldId id="16141372"/>
            <p14:sldId id="16141376"/>
            <p14:sldId id="16141373"/>
            <p14:sldId id="161413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3A760-3DA7-4B89-B93B-BDA3E87B694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BA70-1321-4470-8513-12E65A229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766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512F2-B00E-4900-B8F4-C8F10FD3E0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46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512F2-B00E-4900-B8F4-C8F10FD3E0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96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512F2-B00E-4900-B8F4-C8F10FD3E0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059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512F2-B00E-4900-B8F4-C8F10FD3E09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97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58B16-50F3-4BFE-877B-365236CC8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4CCD7B-83CB-4798-90F7-F36BA5D3E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93BF1-32FA-46D2-B1B3-76FA9E14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E9D77D-E837-4C6A-BBFA-A4B7DCAC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B1A135-D868-4E15-84B4-B1FF1B32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41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D39F7-35C5-4A23-8686-0AA535FE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E22A3F-F1D0-413B-B43B-E4F5F5035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3D765F-C80C-41C2-BB41-D0480495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6C17A-26DA-4401-9955-B3B8DFA0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99686F-6D24-490F-9767-05D4651E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58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324D4-C083-439D-A101-D6441278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405093-4016-4EED-9DFA-99C73C8F7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F1173B-1AC9-4764-B524-E8C51662C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0A26B-B4F1-4056-B7D8-172A97D1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14C64D-B411-4CE4-9572-3E7662FE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23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D92E7-477A-4FDA-A02E-99B288C1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C96D85-52ED-4493-8558-FCC7BCC65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D0D5CE-93EC-4E4E-9091-2F066237F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C1F76B-B204-41D4-85BD-83EE6183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D936C1-419B-4A5A-BDFB-79CAC88A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41621C-3BBF-448D-9ADC-1D09985A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88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AE3C2-0A28-4334-B782-440AC8C4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CCA258-3F5D-4A30-8B02-0B1E233D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586A10-5F45-49B7-92EC-DF7959A05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FC35BC-F60A-469B-9892-ED70D81C3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A8D6F5-E406-4ED3-B9E4-DC8B7E463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0BDD30-BDB2-4CDB-B75F-3553E15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1B7909-CE05-489E-933C-2210F957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709D5E-69BE-4D4D-86E9-70DB7649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09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634A2-D8E6-4E36-8426-17F533E3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68A735-F9A9-47E0-9532-B017468C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437AFF-A369-4970-8FB5-7DEEC92D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CDB6AB-04BE-41D6-8DE2-4C2AA676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27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7D7760-87DA-44AC-A21B-DE7174FBF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B9697B-ECAB-4878-914D-52B8028A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9F2A59-5453-4B7D-BD27-61825AA1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845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FFE13-0689-42D8-8952-009F757C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88830-7100-4B26-BA2D-C7426F16E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27E612-FDA3-4A49-9D43-E8E977007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B5D8FD-0103-4E55-AD37-72E94460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D29C8E-BE0E-482B-A982-78DCD0AE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D85140-1A42-46F5-BE10-5A31D351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48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764FA-FEED-453B-8D1E-7231320FD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1E4C1E-0F3B-421E-9FA3-C5B462B6B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98017-D870-4BCD-936B-E4411BDEF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803B76-2AF0-4C85-9CD0-7891327E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DC9093-6C55-4397-8A65-C4934893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5B04D1-3CE3-4734-9469-2CF3F79A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80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83EF4-68AD-4F99-B827-7819CC5B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AB06D1-82C3-40C7-9698-C015C434F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1F3330-D02E-4487-B8A4-95FE4708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E33AF-DDBE-47D7-A6DC-BA856C07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F7EBF3-571B-4090-86CC-D56493D6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6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B4A00A-A5F3-4250-A2C5-25F3565AA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4532AE-7260-4728-8926-B74E370C5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E42801-34A7-4457-A19F-F20D4376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125499-6E3F-4F3E-AA4A-D4D5FE55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D00A0-5051-4A6D-8617-A22429065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325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/>
          <p:cNvSpPr txBox="1"/>
          <p:nvPr userDrawn="1"/>
        </p:nvSpPr>
        <p:spPr>
          <a:xfrm>
            <a:off x="431372" y="6181652"/>
            <a:ext cx="1112805" cy="37965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7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   </a:t>
            </a:r>
          </a:p>
        </p:txBody>
      </p:sp>
      <p:sp>
        <p:nvSpPr>
          <p:cNvPr id="11" name="内容占位符 8"/>
          <p:cNvSpPr>
            <a:spLocks noGrp="1"/>
          </p:cNvSpPr>
          <p:nvPr>
            <p:ph sz="quarter" idx="11" hasCustomPrompt="1"/>
          </p:nvPr>
        </p:nvSpPr>
        <p:spPr>
          <a:xfrm>
            <a:off x="911424" y="1508787"/>
            <a:ext cx="10378051" cy="3841749"/>
          </a:xfrm>
          <a:prstGeom prst="rect">
            <a:avLst/>
          </a:prstGeom>
        </p:spPr>
        <p:txBody>
          <a:bodyPr/>
          <a:lstStyle>
            <a:lvl1pPr>
              <a:defRPr sz="1867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2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199456" y="319481"/>
            <a:ext cx="7392821" cy="672075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5452"/>
            <a:ext cx="1126189" cy="56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40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911425" y="1508787"/>
            <a:ext cx="10378052" cy="38417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  <a:lvl2pPr indent="609585">
              <a:defRPr sz="1867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2pPr>
            <a:lvl3pPr>
              <a:defRPr sz="1867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3pPr>
            <a:lvl4pPr>
              <a:defRPr sz="1867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4pPr>
            <a:lvl5pPr>
              <a:defRPr sz="1867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61" name="图片 7" descr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451"/>
            <a:ext cx="1126189" cy="564439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947189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自定义版式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3"/>
          <p:cNvSpPr txBox="1"/>
          <p:nvPr/>
        </p:nvSpPr>
        <p:spPr>
          <a:xfrm>
            <a:off x="477091" y="6181652"/>
            <a:ext cx="1498167" cy="379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>
            <a:spAutoFit/>
          </a:bodyPr>
          <a:lstStyle>
            <a:lvl1pPr defTabSz="685800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sz="1867"/>
              <a:t>密级：秘密   </a:t>
            </a:r>
          </a:p>
        </p:txBody>
      </p:sp>
      <p:sp>
        <p:nvSpPr>
          <p:cNvPr id="27" name="标题文本"/>
          <p:cNvSpPr txBox="1">
            <a:spLocks noGrp="1"/>
          </p:cNvSpPr>
          <p:nvPr>
            <p:ph type="title"/>
          </p:nvPr>
        </p:nvSpPr>
        <p:spPr>
          <a:xfrm>
            <a:off x="1768624" y="2565995"/>
            <a:ext cx="8654753" cy="85839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267" b="1">
                <a:solidFill>
                  <a:srgbClr val="08409C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标题文本</a:t>
            </a:r>
          </a:p>
        </p:txBody>
      </p:sp>
      <p:sp>
        <p:nvSpPr>
          <p:cNvPr id="2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592007" y="3430090"/>
            <a:ext cx="7007987" cy="67098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200">
                <a:solidFill>
                  <a:srgbClr val="08409C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  <a:lvl2pPr algn="ctr">
              <a:defRPr sz="3200">
                <a:solidFill>
                  <a:srgbClr val="08409C"/>
                </a:solidFill>
                <a:latin typeface="微软雅黑"/>
                <a:ea typeface="微软雅黑"/>
                <a:cs typeface="微软雅黑"/>
                <a:sym typeface="微软雅黑"/>
              </a:defRPr>
            </a:lvl2pPr>
            <a:lvl3pPr algn="ctr">
              <a:defRPr sz="3200">
                <a:solidFill>
                  <a:srgbClr val="08409C"/>
                </a:solidFill>
                <a:latin typeface="微软雅黑"/>
                <a:ea typeface="微软雅黑"/>
                <a:cs typeface="微软雅黑"/>
                <a:sym typeface="微软雅黑"/>
              </a:defRPr>
            </a:lvl3pPr>
            <a:lvl4pPr algn="ctr">
              <a:defRPr sz="3200">
                <a:solidFill>
                  <a:srgbClr val="08409C"/>
                </a:solidFill>
                <a:latin typeface="微软雅黑"/>
                <a:ea typeface="微软雅黑"/>
                <a:cs typeface="微软雅黑"/>
                <a:sym typeface="微软雅黑"/>
              </a:defRPr>
            </a:lvl4pPr>
            <a:lvl5pPr algn="ctr">
              <a:defRPr sz="3200">
                <a:solidFill>
                  <a:srgbClr val="08409C"/>
                </a:solidFill>
                <a:latin typeface="微软雅黑"/>
                <a:ea typeface="微软雅黑"/>
                <a:cs typeface="微软雅黑"/>
                <a:sym typeface="微软雅黑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068026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35A0C5-047B-4FE0-BD0D-D3078D5CD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7BC08C-5A0D-4AA4-A4AD-F5824AA1B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F668A2-3AA8-46BA-8EC4-0E207A282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F94A1-C3CA-4144-BF17-CF509A59F512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436818-637C-4D50-837A-A3E78A822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B09795-1F4B-4C5E-8B76-4891AB536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EE9A2-115F-4A6C-9678-8CE2EB877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7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AI研发提效"/>
          <p:cNvSpPr txBox="1">
            <a:spLocks noGrp="1"/>
          </p:cNvSpPr>
          <p:nvPr>
            <p:ph type="title"/>
          </p:nvPr>
        </p:nvSpPr>
        <p:spPr>
          <a:xfrm>
            <a:off x="1768624" y="2999804"/>
            <a:ext cx="8654753" cy="858392"/>
          </a:xfrm>
          <a:prstGeom prst="rect">
            <a:avLst/>
          </a:prstGeom>
        </p:spPr>
        <p:txBody>
          <a:bodyPr/>
          <a:lstStyle>
            <a:lvl1pPr defTabSz="896111">
              <a:defRPr sz="3136"/>
            </a:lvl1pPr>
          </a:lstStyle>
          <a:p>
            <a:r>
              <a:rPr lang="en-US" altLang="zh-CN" dirty="0"/>
              <a:t>AI</a:t>
            </a:r>
            <a:r>
              <a:rPr lang="zh-CN" altLang="en-US" dirty="0"/>
              <a:t>研发门控体系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B3213-0711-4BFA-9EB5-ED4188E450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86736" y="2701027"/>
            <a:ext cx="9218527" cy="1455946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把 </a:t>
            </a:r>
            <a:r>
              <a:rPr lang="en-US" altLang="zh-CN" dirty="0"/>
              <a:t>AI </a:t>
            </a:r>
            <a:r>
              <a:rPr lang="zh-CN" altLang="en-US" dirty="0"/>
              <a:t>当成一个不靠谱的程序员</a:t>
            </a:r>
            <a:endParaRPr lang="en-US" altLang="zh-CN" dirty="0"/>
          </a:p>
          <a:p>
            <a:pPr algn="ctr"/>
            <a:r>
              <a:rPr lang="zh-CN" altLang="en-US" dirty="0"/>
              <a:t>我们需要各种门控机制，确保它的成果可用</a:t>
            </a:r>
          </a:p>
        </p:txBody>
      </p:sp>
    </p:spTree>
    <p:extLst>
      <p:ext uri="{BB962C8B-B14F-4D97-AF65-F5344CB8AC3E}">
        <p14:creationId xmlns:p14="http://schemas.microsoft.com/office/powerpoint/2010/main" val="74586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317" y="-2"/>
            <a:ext cx="12191697" cy="1234443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 sz="1733"/>
          </a:p>
        </p:txBody>
      </p:sp>
      <p:sp>
        <p:nvSpPr>
          <p:cNvPr id="415" name="Rectangle 5"/>
          <p:cNvSpPr/>
          <p:nvPr/>
        </p:nvSpPr>
        <p:spPr>
          <a:xfrm flipV="1">
            <a:off x="1" y="1227668"/>
            <a:ext cx="12192847" cy="384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 sz="1733"/>
          </a:p>
        </p:txBody>
      </p:sp>
      <p:sp>
        <p:nvSpPr>
          <p:cNvPr id="416" name="TextBox 2"/>
          <p:cNvSpPr txBox="1"/>
          <p:nvPr/>
        </p:nvSpPr>
        <p:spPr>
          <a:xfrm>
            <a:off x="609917" y="370841"/>
            <a:ext cx="1119124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rIns="60959">
            <a:spAutoFit/>
          </a:bodyPr>
          <a:lstStyle>
            <a:lvl1pPr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sz="2400" dirty="0" err="1"/>
              <a:t>恒生AI研发提效的问题与挑战：门控体系需要进一步建设与运营</a:t>
            </a:r>
            <a:endParaRPr sz="2400" dirty="0"/>
          </a:p>
        </p:txBody>
      </p:sp>
      <p:sp>
        <p:nvSpPr>
          <p:cNvPr id="417" name="Text 22"/>
          <p:cNvSpPr txBox="1"/>
          <p:nvPr/>
        </p:nvSpPr>
        <p:spPr>
          <a:xfrm>
            <a:off x="690948" y="145780"/>
            <a:ext cx="1870469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333"/>
              <a:t>AI原生研发能力体系</a:t>
            </a:r>
          </a:p>
        </p:txBody>
      </p:sp>
      <p:sp>
        <p:nvSpPr>
          <p:cNvPr id="418" name="Text 2"/>
          <p:cNvSpPr txBox="1"/>
          <p:nvPr/>
        </p:nvSpPr>
        <p:spPr>
          <a:xfrm>
            <a:off x="411481" y="1401121"/>
            <a:ext cx="4114801" cy="20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10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333"/>
              <a:t>现场缺陷案例</a:t>
            </a:r>
          </a:p>
        </p:txBody>
      </p:sp>
      <p:sp>
        <p:nvSpPr>
          <p:cNvPr id="419" name="Text 3"/>
          <p:cNvSpPr txBox="1"/>
          <p:nvPr/>
        </p:nvSpPr>
        <p:spPr>
          <a:xfrm>
            <a:off x="5303521" y="1401121"/>
            <a:ext cx="3520441" cy="20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10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333"/>
              <a:t>开发左移门控架构</a:t>
            </a:r>
          </a:p>
        </p:txBody>
      </p:sp>
      <p:sp>
        <p:nvSpPr>
          <p:cNvPr id="420" name="Shape 4"/>
          <p:cNvSpPr/>
          <p:nvPr/>
        </p:nvSpPr>
        <p:spPr>
          <a:xfrm flipH="1">
            <a:off x="5010913" y="1339087"/>
            <a:ext cx="1" cy="5577843"/>
          </a:xfrm>
          <a:prstGeom prst="line">
            <a:avLst/>
          </a:prstGeom>
          <a:ln w="3175">
            <a:solidFill>
              <a:srgbClr val="D9E2EC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1" name="Shape 5"/>
          <p:cNvSpPr/>
          <p:nvPr/>
        </p:nvSpPr>
        <p:spPr>
          <a:xfrm>
            <a:off x="9098281" y="1412240"/>
            <a:ext cx="210313" cy="210313"/>
          </a:xfrm>
          <a:prstGeom prst="ellipse">
            <a:avLst/>
          </a:prstGeom>
          <a:solidFill>
            <a:srgbClr val="2E74B5"/>
          </a:solidFill>
          <a:ln w="3175">
            <a:solidFill>
              <a:srgbClr val="2E74B5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2" name="Text 6"/>
          <p:cNvSpPr txBox="1"/>
          <p:nvPr/>
        </p:nvSpPr>
        <p:spPr>
          <a:xfrm>
            <a:off x="9098281" y="1425956"/>
            <a:ext cx="210313" cy="1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1</a:t>
            </a:r>
          </a:p>
        </p:txBody>
      </p:sp>
      <p:sp>
        <p:nvSpPr>
          <p:cNvPr id="423" name="Text 7"/>
          <p:cNvSpPr txBox="1"/>
          <p:nvPr/>
        </p:nvSpPr>
        <p:spPr>
          <a:xfrm>
            <a:off x="9345169" y="1412240"/>
            <a:ext cx="96012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API默认行为</a:t>
            </a:r>
          </a:p>
        </p:txBody>
      </p:sp>
      <p:sp>
        <p:nvSpPr>
          <p:cNvPr id="424" name="Shape 8"/>
          <p:cNvSpPr/>
          <p:nvPr/>
        </p:nvSpPr>
        <p:spPr>
          <a:xfrm>
            <a:off x="10405873" y="1412240"/>
            <a:ext cx="210313" cy="210313"/>
          </a:xfrm>
          <a:prstGeom prst="ellipse">
            <a:avLst/>
          </a:prstGeom>
          <a:solidFill>
            <a:srgbClr val="E67E22"/>
          </a:solidFill>
          <a:ln w="3175">
            <a:solidFill>
              <a:srgbClr val="E67E22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5" name="Text 9"/>
          <p:cNvSpPr txBox="1"/>
          <p:nvPr/>
        </p:nvSpPr>
        <p:spPr>
          <a:xfrm>
            <a:off x="10405873" y="1425956"/>
            <a:ext cx="210313" cy="1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2</a:t>
            </a:r>
          </a:p>
        </p:txBody>
      </p:sp>
      <p:sp>
        <p:nvSpPr>
          <p:cNvPr id="426" name="Text 10"/>
          <p:cNvSpPr txBox="1"/>
          <p:nvPr/>
        </p:nvSpPr>
        <p:spPr>
          <a:xfrm>
            <a:off x="10652760" y="1412240"/>
            <a:ext cx="713233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类型误用</a:t>
            </a:r>
          </a:p>
        </p:txBody>
      </p:sp>
      <p:sp>
        <p:nvSpPr>
          <p:cNvPr id="427" name="Shape 14"/>
          <p:cNvSpPr/>
          <p:nvPr/>
        </p:nvSpPr>
        <p:spPr>
          <a:xfrm>
            <a:off x="384049" y="1823720"/>
            <a:ext cx="4389121" cy="1481329"/>
          </a:xfrm>
          <a:prstGeom prst="roundRect">
            <a:avLst>
              <a:gd name="adj" fmla="val 6173"/>
            </a:avLst>
          </a:prstGeom>
          <a:solidFill>
            <a:srgbClr val="EAF3FC"/>
          </a:solidFill>
          <a:ln w="3175">
            <a:solidFill>
              <a:srgbClr val="E2E8F0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8" name="Shape 15"/>
          <p:cNvSpPr/>
          <p:nvPr/>
        </p:nvSpPr>
        <p:spPr>
          <a:xfrm>
            <a:off x="384049" y="1823720"/>
            <a:ext cx="82297" cy="1481329"/>
          </a:xfrm>
          <a:prstGeom prst="rect">
            <a:avLst/>
          </a:prstGeom>
          <a:solidFill>
            <a:srgbClr val="2E74B5"/>
          </a:solidFill>
          <a:ln w="3175">
            <a:solidFill>
              <a:srgbClr val="2E74B5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9" name="Shape 16"/>
          <p:cNvSpPr/>
          <p:nvPr/>
        </p:nvSpPr>
        <p:spPr>
          <a:xfrm>
            <a:off x="585217" y="1988312"/>
            <a:ext cx="685801" cy="274321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 w="3175">
            <a:solidFill>
              <a:srgbClr val="2E74B5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30" name="Text 17"/>
          <p:cNvSpPr txBox="1"/>
          <p:nvPr/>
        </p:nvSpPr>
        <p:spPr>
          <a:xfrm>
            <a:off x="585217" y="2050201"/>
            <a:ext cx="6858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缺陷1</a:t>
            </a:r>
          </a:p>
        </p:txBody>
      </p:sp>
      <p:sp>
        <p:nvSpPr>
          <p:cNvPr id="431" name="Text 18"/>
          <p:cNvSpPr txBox="1"/>
          <p:nvPr/>
        </p:nvSpPr>
        <p:spPr>
          <a:xfrm>
            <a:off x="1371601" y="1960881"/>
            <a:ext cx="3218689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9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200"/>
              <a:t>API 默认行为变化 + 未校验配置</a:t>
            </a:r>
          </a:p>
        </p:txBody>
      </p:sp>
      <p:sp>
        <p:nvSpPr>
          <p:cNvPr id="432" name="Text 19"/>
          <p:cNvSpPr txBox="1"/>
          <p:nvPr/>
        </p:nvSpPr>
        <p:spPr>
          <a:xfrm>
            <a:off x="585216" y="2390649"/>
            <a:ext cx="3986785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685800">
              <a:defRPr sz="7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经纪接口默认语义变化，机构 LDP 未校验取回配置值，导致计算出错、客户透支。</a:t>
            </a:r>
          </a:p>
        </p:txBody>
      </p:sp>
      <p:sp>
        <p:nvSpPr>
          <p:cNvPr id="433" name="Text 20"/>
          <p:cNvSpPr txBox="1"/>
          <p:nvPr/>
        </p:nvSpPr>
        <p:spPr>
          <a:xfrm>
            <a:off x="585216" y="2949802"/>
            <a:ext cx="3986785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70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可由门控：4 契约兼容</a:t>
            </a:r>
          </a:p>
        </p:txBody>
      </p:sp>
      <p:sp>
        <p:nvSpPr>
          <p:cNvPr id="434" name="Shape 21"/>
          <p:cNvSpPr/>
          <p:nvPr/>
        </p:nvSpPr>
        <p:spPr>
          <a:xfrm>
            <a:off x="384049" y="3561080"/>
            <a:ext cx="4389121" cy="1481329"/>
          </a:xfrm>
          <a:prstGeom prst="roundRect">
            <a:avLst>
              <a:gd name="adj" fmla="val 6173"/>
            </a:avLst>
          </a:prstGeom>
          <a:solidFill>
            <a:srgbClr val="FFF3E6"/>
          </a:solidFill>
          <a:ln w="3175">
            <a:solidFill>
              <a:srgbClr val="E2E8F0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35" name="Shape 22"/>
          <p:cNvSpPr/>
          <p:nvPr/>
        </p:nvSpPr>
        <p:spPr>
          <a:xfrm>
            <a:off x="384049" y="3561080"/>
            <a:ext cx="82297" cy="1481329"/>
          </a:xfrm>
          <a:prstGeom prst="rect">
            <a:avLst/>
          </a:prstGeom>
          <a:solidFill>
            <a:srgbClr val="E67E22"/>
          </a:solidFill>
          <a:ln w="3175">
            <a:solidFill>
              <a:srgbClr val="E67E22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36" name="Shape 23"/>
          <p:cNvSpPr/>
          <p:nvPr/>
        </p:nvSpPr>
        <p:spPr>
          <a:xfrm>
            <a:off x="585217" y="3725672"/>
            <a:ext cx="685801" cy="274321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3175">
            <a:solidFill>
              <a:srgbClr val="E67E22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37" name="Text 24"/>
          <p:cNvSpPr txBox="1"/>
          <p:nvPr/>
        </p:nvSpPr>
        <p:spPr>
          <a:xfrm>
            <a:off x="585217" y="3787562"/>
            <a:ext cx="6858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缺陷2</a:t>
            </a:r>
          </a:p>
        </p:txBody>
      </p:sp>
      <p:sp>
        <p:nvSpPr>
          <p:cNvPr id="438" name="Text 25"/>
          <p:cNvSpPr txBox="1"/>
          <p:nvPr/>
        </p:nvSpPr>
        <p:spPr>
          <a:xfrm>
            <a:off x="1371601" y="3698241"/>
            <a:ext cx="3218689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9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200"/>
              <a:t>C++ char / int 类型误用</a:t>
            </a:r>
          </a:p>
        </p:txBody>
      </p:sp>
      <p:sp>
        <p:nvSpPr>
          <p:cNvPr id="439" name="Text 26"/>
          <p:cNvSpPr txBox="1"/>
          <p:nvPr/>
        </p:nvSpPr>
        <p:spPr>
          <a:xfrm>
            <a:off x="585216" y="4128008"/>
            <a:ext cx="3986785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685800">
              <a:defRPr sz="7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证券类别比较时类型用错，if 判断长期为 false，卖券还款流程执行错误。</a:t>
            </a:r>
          </a:p>
        </p:txBody>
      </p:sp>
      <p:sp>
        <p:nvSpPr>
          <p:cNvPr id="440" name="Text 27"/>
          <p:cNvSpPr txBox="1"/>
          <p:nvPr/>
        </p:nvSpPr>
        <p:spPr>
          <a:xfrm>
            <a:off x="585216" y="4687162"/>
            <a:ext cx="3986785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7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可由门控：2 类型与基础测试</a:t>
            </a:r>
          </a:p>
        </p:txBody>
      </p:sp>
      <p:sp>
        <p:nvSpPr>
          <p:cNvPr id="441" name="Shape 28"/>
          <p:cNvSpPr/>
          <p:nvPr/>
        </p:nvSpPr>
        <p:spPr>
          <a:xfrm>
            <a:off x="384049" y="5298441"/>
            <a:ext cx="4389121" cy="1481329"/>
          </a:xfrm>
          <a:prstGeom prst="roundRect">
            <a:avLst>
              <a:gd name="adj" fmla="val 6173"/>
            </a:avLst>
          </a:prstGeom>
          <a:solidFill>
            <a:srgbClr val="F1EEFF"/>
          </a:solidFill>
          <a:ln w="3175">
            <a:solidFill>
              <a:srgbClr val="E2E8F0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42" name="Shape 29"/>
          <p:cNvSpPr/>
          <p:nvPr/>
        </p:nvSpPr>
        <p:spPr>
          <a:xfrm>
            <a:off x="384049" y="5298441"/>
            <a:ext cx="82297" cy="1481329"/>
          </a:xfrm>
          <a:prstGeom prst="rect">
            <a:avLst/>
          </a:prstGeom>
          <a:solidFill>
            <a:srgbClr val="7B61FF"/>
          </a:solidFill>
          <a:ln w="3175">
            <a:solidFill>
              <a:srgbClr val="7B61FF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43" name="Shape 30"/>
          <p:cNvSpPr/>
          <p:nvPr/>
        </p:nvSpPr>
        <p:spPr>
          <a:xfrm>
            <a:off x="585217" y="5463032"/>
            <a:ext cx="685801" cy="274321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 w="3175">
            <a:solidFill>
              <a:srgbClr val="7B61FF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44" name="Text 31"/>
          <p:cNvSpPr txBox="1"/>
          <p:nvPr/>
        </p:nvSpPr>
        <p:spPr>
          <a:xfrm>
            <a:off x="585217" y="5524922"/>
            <a:ext cx="6858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缺陷3</a:t>
            </a:r>
          </a:p>
        </p:txBody>
      </p:sp>
      <p:sp>
        <p:nvSpPr>
          <p:cNvPr id="445" name="Text 32"/>
          <p:cNvSpPr txBox="1"/>
          <p:nvPr/>
        </p:nvSpPr>
        <p:spPr>
          <a:xfrm>
            <a:off x="1371601" y="5435601"/>
            <a:ext cx="3218689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9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200"/>
              <a:t>魔法数写错，走错业务分支</a:t>
            </a:r>
          </a:p>
        </p:txBody>
      </p:sp>
      <p:sp>
        <p:nvSpPr>
          <p:cNvPr id="446" name="Text 33"/>
          <p:cNvSpPr txBox="1"/>
          <p:nvPr/>
        </p:nvSpPr>
        <p:spPr>
          <a:xfrm>
            <a:off x="585216" y="5865369"/>
            <a:ext cx="3986785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685800">
              <a:defRPr sz="7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常量值记混导致代码进入错误分支，客户交易始终委托失败。</a:t>
            </a:r>
          </a:p>
        </p:txBody>
      </p:sp>
      <p:sp>
        <p:nvSpPr>
          <p:cNvPr id="447" name="Text 34"/>
          <p:cNvSpPr txBox="1"/>
          <p:nvPr/>
        </p:nvSpPr>
        <p:spPr>
          <a:xfrm>
            <a:off x="585216" y="6424521"/>
            <a:ext cx="3986785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70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可由门控：1 代码规范、2 基础测试、3 静态分析、5 Review、6 集成测试</a:t>
            </a:r>
          </a:p>
        </p:txBody>
      </p:sp>
      <p:sp>
        <p:nvSpPr>
          <p:cNvPr id="448" name="Shape 35"/>
          <p:cNvSpPr/>
          <p:nvPr/>
        </p:nvSpPr>
        <p:spPr>
          <a:xfrm>
            <a:off x="5321807" y="177800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9FBFD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49" name="Shape 36"/>
          <p:cNvSpPr/>
          <p:nvPr/>
        </p:nvSpPr>
        <p:spPr>
          <a:xfrm>
            <a:off x="5440680" y="1896873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50" name="Text 37"/>
          <p:cNvSpPr txBox="1"/>
          <p:nvPr/>
        </p:nvSpPr>
        <p:spPr>
          <a:xfrm>
            <a:off x="5440680" y="1972478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1</a:t>
            </a:r>
          </a:p>
        </p:txBody>
      </p:sp>
      <p:sp>
        <p:nvSpPr>
          <p:cNvPr id="451" name="Text 38"/>
          <p:cNvSpPr txBox="1"/>
          <p:nvPr/>
        </p:nvSpPr>
        <p:spPr>
          <a:xfrm>
            <a:off x="5870447" y="185115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代码规范门控</a:t>
            </a:r>
          </a:p>
        </p:txBody>
      </p:sp>
      <p:sp>
        <p:nvSpPr>
          <p:cNvPr id="452" name="Text 39"/>
          <p:cNvSpPr txBox="1"/>
          <p:nvPr/>
        </p:nvSpPr>
        <p:spPr>
          <a:xfrm>
            <a:off x="5870447" y="2061465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拦截：硬编码、命名与编码约定问题</a:t>
            </a:r>
          </a:p>
        </p:txBody>
      </p:sp>
      <p:sp>
        <p:nvSpPr>
          <p:cNvPr id="453" name="Shape 42"/>
          <p:cNvSpPr/>
          <p:nvPr/>
        </p:nvSpPr>
        <p:spPr>
          <a:xfrm>
            <a:off x="5321807" y="2418080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54" name="Shape 43"/>
          <p:cNvSpPr/>
          <p:nvPr/>
        </p:nvSpPr>
        <p:spPr>
          <a:xfrm>
            <a:off x="5440680" y="253695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55" name="Text 44"/>
          <p:cNvSpPr txBox="1"/>
          <p:nvPr/>
        </p:nvSpPr>
        <p:spPr>
          <a:xfrm>
            <a:off x="5440680" y="2612557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2</a:t>
            </a:r>
          </a:p>
        </p:txBody>
      </p:sp>
      <p:sp>
        <p:nvSpPr>
          <p:cNvPr id="456" name="Text 45"/>
          <p:cNvSpPr txBox="1"/>
          <p:nvPr/>
        </p:nvSpPr>
        <p:spPr>
          <a:xfrm>
            <a:off x="5870447" y="249123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语言、构建与基础测试门控</a:t>
            </a:r>
          </a:p>
        </p:txBody>
      </p:sp>
      <p:sp>
        <p:nvSpPr>
          <p:cNvPr id="457" name="Text 46"/>
          <p:cNvSpPr txBox="1"/>
          <p:nvPr/>
        </p:nvSpPr>
        <p:spPr>
          <a:xfrm>
            <a:off x="5870447" y="2701545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拦截：类型误用、编译告警、关键分支单测缺失</a:t>
            </a:r>
          </a:p>
        </p:txBody>
      </p:sp>
      <p:sp>
        <p:nvSpPr>
          <p:cNvPr id="458" name="Shape 47"/>
          <p:cNvSpPr/>
          <p:nvPr/>
        </p:nvSpPr>
        <p:spPr>
          <a:xfrm>
            <a:off x="10991089" y="2573528"/>
            <a:ext cx="228601" cy="228601"/>
          </a:xfrm>
          <a:prstGeom prst="ellipse">
            <a:avLst/>
          </a:prstGeom>
          <a:solidFill>
            <a:srgbClr val="E67E22"/>
          </a:solidFill>
          <a:ln w="3175">
            <a:solidFill>
              <a:srgbClr val="E67E22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59" name="Text 48"/>
          <p:cNvSpPr txBox="1"/>
          <p:nvPr/>
        </p:nvSpPr>
        <p:spPr>
          <a:xfrm>
            <a:off x="10991089" y="2587245"/>
            <a:ext cx="22860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2</a:t>
            </a:r>
          </a:p>
        </p:txBody>
      </p:sp>
      <p:sp>
        <p:nvSpPr>
          <p:cNvPr id="460" name="Shape 51"/>
          <p:cNvSpPr/>
          <p:nvPr/>
        </p:nvSpPr>
        <p:spPr>
          <a:xfrm>
            <a:off x="5321807" y="305816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61" name="Shape 52"/>
          <p:cNvSpPr/>
          <p:nvPr/>
        </p:nvSpPr>
        <p:spPr>
          <a:xfrm>
            <a:off x="5440680" y="317703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62" name="Text 53"/>
          <p:cNvSpPr txBox="1"/>
          <p:nvPr/>
        </p:nvSpPr>
        <p:spPr>
          <a:xfrm>
            <a:off x="5440680" y="3252638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3</a:t>
            </a:r>
          </a:p>
        </p:txBody>
      </p:sp>
      <p:sp>
        <p:nvSpPr>
          <p:cNvPr id="463" name="Text 54"/>
          <p:cNvSpPr txBox="1"/>
          <p:nvPr/>
        </p:nvSpPr>
        <p:spPr>
          <a:xfrm>
            <a:off x="5870447" y="313131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静态质量与安全门控</a:t>
            </a:r>
          </a:p>
        </p:txBody>
      </p:sp>
      <p:sp>
        <p:nvSpPr>
          <p:cNvPr id="464" name="Text 55"/>
          <p:cNvSpPr txBox="1"/>
          <p:nvPr/>
        </p:nvSpPr>
        <p:spPr>
          <a:xfrm>
            <a:off x="5870447" y="3341624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拦截：可疑比较、常量误用、恒真/恒假分支</a:t>
            </a:r>
          </a:p>
        </p:txBody>
      </p:sp>
      <p:sp>
        <p:nvSpPr>
          <p:cNvPr id="465" name="Shape 60"/>
          <p:cNvSpPr/>
          <p:nvPr/>
        </p:nvSpPr>
        <p:spPr>
          <a:xfrm>
            <a:off x="5321807" y="369824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9FBFD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66" name="Shape 61"/>
          <p:cNvSpPr/>
          <p:nvPr/>
        </p:nvSpPr>
        <p:spPr>
          <a:xfrm>
            <a:off x="5440680" y="381711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67" name="Text 62"/>
          <p:cNvSpPr txBox="1"/>
          <p:nvPr/>
        </p:nvSpPr>
        <p:spPr>
          <a:xfrm>
            <a:off x="5440680" y="3892717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4</a:t>
            </a:r>
          </a:p>
        </p:txBody>
      </p:sp>
      <p:sp>
        <p:nvSpPr>
          <p:cNvPr id="468" name="Text 63"/>
          <p:cNvSpPr txBox="1"/>
          <p:nvPr/>
        </p:nvSpPr>
        <p:spPr>
          <a:xfrm>
            <a:off x="5870447" y="3771393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接口、契约与数据兼容门控</a:t>
            </a:r>
          </a:p>
        </p:txBody>
      </p:sp>
      <p:sp>
        <p:nvSpPr>
          <p:cNvPr id="469" name="Text 64"/>
          <p:cNvSpPr txBox="1"/>
          <p:nvPr/>
        </p:nvSpPr>
        <p:spPr>
          <a:xfrm>
            <a:off x="5870447" y="3981704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拦截：API 默认语义变化、返回值契约破坏</a:t>
            </a:r>
          </a:p>
        </p:txBody>
      </p:sp>
      <p:sp>
        <p:nvSpPr>
          <p:cNvPr id="470" name="Shape 65"/>
          <p:cNvSpPr/>
          <p:nvPr/>
        </p:nvSpPr>
        <p:spPr>
          <a:xfrm>
            <a:off x="10991089" y="3853689"/>
            <a:ext cx="228601" cy="228601"/>
          </a:xfrm>
          <a:prstGeom prst="ellipse">
            <a:avLst/>
          </a:prstGeom>
          <a:solidFill>
            <a:srgbClr val="2E74B5"/>
          </a:solidFill>
          <a:ln w="3175">
            <a:solidFill>
              <a:srgbClr val="2E74B5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71" name="Text 66"/>
          <p:cNvSpPr txBox="1"/>
          <p:nvPr/>
        </p:nvSpPr>
        <p:spPr>
          <a:xfrm>
            <a:off x="10991089" y="3867404"/>
            <a:ext cx="22860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1</a:t>
            </a:r>
          </a:p>
        </p:txBody>
      </p:sp>
      <p:sp>
        <p:nvSpPr>
          <p:cNvPr id="472" name="Shape 67"/>
          <p:cNvSpPr/>
          <p:nvPr/>
        </p:nvSpPr>
        <p:spPr>
          <a:xfrm>
            <a:off x="5321807" y="433832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73" name="Shape 68"/>
          <p:cNvSpPr/>
          <p:nvPr/>
        </p:nvSpPr>
        <p:spPr>
          <a:xfrm>
            <a:off x="5440680" y="4457193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74" name="Text 69"/>
          <p:cNvSpPr txBox="1"/>
          <p:nvPr/>
        </p:nvSpPr>
        <p:spPr>
          <a:xfrm>
            <a:off x="5440680" y="4532798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5</a:t>
            </a:r>
          </a:p>
        </p:txBody>
      </p:sp>
      <p:sp>
        <p:nvSpPr>
          <p:cNvPr id="475" name="Text 70"/>
          <p:cNvSpPr txBox="1"/>
          <p:nvPr/>
        </p:nvSpPr>
        <p:spPr>
          <a:xfrm>
            <a:off x="5870447" y="441147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 dirty="0"/>
              <a:t>Agentic</a:t>
            </a:r>
            <a:r>
              <a:rPr lang="en-US" sz="933" dirty="0"/>
              <a:t> Design and</a:t>
            </a:r>
            <a:r>
              <a:rPr sz="933" dirty="0"/>
              <a:t> Code Review</a:t>
            </a:r>
          </a:p>
        </p:txBody>
      </p:sp>
      <p:sp>
        <p:nvSpPr>
          <p:cNvPr id="476" name="Text 71"/>
          <p:cNvSpPr txBox="1"/>
          <p:nvPr/>
        </p:nvSpPr>
        <p:spPr>
          <a:xfrm>
            <a:off x="5870447" y="4621785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拦截：未校验返回值、隐含语义变化、范围外修改</a:t>
            </a:r>
          </a:p>
        </p:txBody>
      </p:sp>
      <p:sp>
        <p:nvSpPr>
          <p:cNvPr id="477" name="Shape 74"/>
          <p:cNvSpPr/>
          <p:nvPr/>
        </p:nvSpPr>
        <p:spPr>
          <a:xfrm>
            <a:off x="11011408" y="4493769"/>
            <a:ext cx="228601" cy="228601"/>
          </a:xfrm>
          <a:prstGeom prst="ellipse">
            <a:avLst/>
          </a:prstGeom>
          <a:solidFill>
            <a:srgbClr val="7B61FF"/>
          </a:solidFill>
          <a:ln w="3175">
            <a:solidFill>
              <a:srgbClr val="7B61FF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78" name="Text 75"/>
          <p:cNvSpPr txBox="1"/>
          <p:nvPr/>
        </p:nvSpPr>
        <p:spPr>
          <a:xfrm>
            <a:off x="11011408" y="4507485"/>
            <a:ext cx="22860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3</a:t>
            </a:r>
          </a:p>
        </p:txBody>
      </p:sp>
      <p:sp>
        <p:nvSpPr>
          <p:cNvPr id="479" name="Shape 76"/>
          <p:cNvSpPr/>
          <p:nvPr/>
        </p:nvSpPr>
        <p:spPr>
          <a:xfrm>
            <a:off x="5321807" y="497840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80" name="Shape 77"/>
          <p:cNvSpPr/>
          <p:nvPr/>
        </p:nvSpPr>
        <p:spPr>
          <a:xfrm>
            <a:off x="5440680" y="509727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81" name="Text 78"/>
          <p:cNvSpPr txBox="1"/>
          <p:nvPr/>
        </p:nvSpPr>
        <p:spPr>
          <a:xfrm>
            <a:off x="5440680" y="5172877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6</a:t>
            </a:r>
          </a:p>
        </p:txBody>
      </p:sp>
      <p:sp>
        <p:nvSpPr>
          <p:cNvPr id="482" name="Text 79"/>
          <p:cNvSpPr txBox="1"/>
          <p:nvPr/>
        </p:nvSpPr>
        <p:spPr>
          <a:xfrm>
            <a:off x="5870447" y="5051553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 dirty="0" err="1"/>
              <a:t>运行时和系统集成测试门控</a:t>
            </a:r>
            <a:endParaRPr sz="933" dirty="0"/>
          </a:p>
        </p:txBody>
      </p:sp>
      <p:sp>
        <p:nvSpPr>
          <p:cNvPr id="483" name="Text 80"/>
          <p:cNvSpPr txBox="1"/>
          <p:nvPr/>
        </p:nvSpPr>
        <p:spPr>
          <a:xfrm>
            <a:off x="5870447" y="5261864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 dirty="0" err="1"/>
              <a:t>拦截：LDP</a:t>
            </a:r>
            <a:r>
              <a:rPr sz="800" dirty="0"/>
              <a:t> </a:t>
            </a:r>
            <a:r>
              <a:rPr sz="800" dirty="0" err="1"/>
              <a:t>对接、交易委托等端到端链路回归</a:t>
            </a:r>
            <a:endParaRPr sz="800" dirty="0"/>
          </a:p>
        </p:txBody>
      </p:sp>
      <p:sp>
        <p:nvSpPr>
          <p:cNvPr id="484" name="Shape 85"/>
          <p:cNvSpPr/>
          <p:nvPr/>
        </p:nvSpPr>
        <p:spPr>
          <a:xfrm>
            <a:off x="5321807" y="5618480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9FBFD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85" name="Shape 86"/>
          <p:cNvSpPr/>
          <p:nvPr/>
        </p:nvSpPr>
        <p:spPr>
          <a:xfrm>
            <a:off x="5440680" y="5737353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86" name="Text 87"/>
          <p:cNvSpPr txBox="1"/>
          <p:nvPr/>
        </p:nvSpPr>
        <p:spPr>
          <a:xfrm>
            <a:off x="5440680" y="5812957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7</a:t>
            </a:r>
          </a:p>
        </p:txBody>
      </p:sp>
      <p:sp>
        <p:nvSpPr>
          <p:cNvPr id="487" name="Text 88"/>
          <p:cNvSpPr txBox="1"/>
          <p:nvPr/>
        </p:nvSpPr>
        <p:spPr>
          <a:xfrm>
            <a:off x="5870447" y="569163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Agentic Execution Code Review</a:t>
            </a:r>
          </a:p>
        </p:txBody>
      </p:sp>
      <p:sp>
        <p:nvSpPr>
          <p:cNvPr id="488" name="Text 89"/>
          <p:cNvSpPr txBox="1"/>
          <p:nvPr/>
        </p:nvSpPr>
        <p:spPr>
          <a:xfrm>
            <a:off x="5870447" y="5901945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拦截：通过沙箱实验复现分支、类型和数据异常</a:t>
            </a:r>
          </a:p>
        </p:txBody>
      </p:sp>
      <p:sp>
        <p:nvSpPr>
          <p:cNvPr id="489" name="Shape 92"/>
          <p:cNvSpPr/>
          <p:nvPr/>
        </p:nvSpPr>
        <p:spPr>
          <a:xfrm>
            <a:off x="5321807" y="6258560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90" name="Shape 93"/>
          <p:cNvSpPr/>
          <p:nvPr/>
        </p:nvSpPr>
        <p:spPr>
          <a:xfrm>
            <a:off x="5440680" y="637743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91" name="Text 94"/>
          <p:cNvSpPr txBox="1"/>
          <p:nvPr/>
        </p:nvSpPr>
        <p:spPr>
          <a:xfrm>
            <a:off x="5440680" y="6453038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8</a:t>
            </a:r>
          </a:p>
        </p:txBody>
      </p:sp>
      <p:sp>
        <p:nvSpPr>
          <p:cNvPr id="492" name="Text 95"/>
          <p:cNvSpPr txBox="1"/>
          <p:nvPr/>
        </p:nvSpPr>
        <p:spPr>
          <a:xfrm>
            <a:off x="5870447" y="633171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业务不变量与高风险专项门控</a:t>
            </a:r>
          </a:p>
        </p:txBody>
      </p:sp>
      <p:sp>
        <p:nvSpPr>
          <p:cNvPr id="493" name="Text 96"/>
          <p:cNvSpPr txBox="1"/>
          <p:nvPr/>
        </p:nvSpPr>
        <p:spPr>
          <a:xfrm>
            <a:off x="5870447" y="6542024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拦截：客户透支、卖券还款异常、委托成功率异常</a:t>
            </a:r>
          </a:p>
        </p:txBody>
      </p:sp>
      <p:sp>
        <p:nvSpPr>
          <p:cNvPr id="495" name="Shape 11"/>
          <p:cNvSpPr/>
          <p:nvPr/>
        </p:nvSpPr>
        <p:spPr>
          <a:xfrm>
            <a:off x="11411712" y="1395306"/>
            <a:ext cx="210313" cy="210313"/>
          </a:xfrm>
          <a:prstGeom prst="ellipse">
            <a:avLst/>
          </a:prstGeom>
          <a:solidFill>
            <a:srgbClr val="7B61FF"/>
          </a:solidFill>
          <a:ln w="3175">
            <a:solidFill>
              <a:srgbClr val="7B61FF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96" name="Text 12"/>
          <p:cNvSpPr txBox="1"/>
          <p:nvPr/>
        </p:nvSpPr>
        <p:spPr>
          <a:xfrm>
            <a:off x="11411712" y="1409022"/>
            <a:ext cx="210313" cy="1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3</a:t>
            </a:r>
          </a:p>
        </p:txBody>
      </p:sp>
      <p:sp>
        <p:nvSpPr>
          <p:cNvPr id="497" name="Text 13"/>
          <p:cNvSpPr txBox="1"/>
          <p:nvPr/>
        </p:nvSpPr>
        <p:spPr>
          <a:xfrm>
            <a:off x="11658601" y="1395306"/>
            <a:ext cx="41148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魔法数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B3213-0711-4BFA-9EB5-ED4188E450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99456" y="319481"/>
            <a:ext cx="8997489" cy="672075"/>
          </a:xfrm>
        </p:spPr>
        <p:txBody>
          <a:bodyPr>
            <a:normAutofit/>
          </a:bodyPr>
          <a:lstStyle/>
          <a:p>
            <a:r>
              <a:rPr lang="zh-CN" altLang="en-US" dirty="0"/>
              <a:t>前期调研</a:t>
            </a:r>
            <a:r>
              <a:rPr lang="en-US" altLang="zh-CN" dirty="0"/>
              <a:t>-</a:t>
            </a:r>
            <a:r>
              <a:rPr lang="zh-CN" altLang="en-US" dirty="0"/>
              <a:t>技术平台 </a:t>
            </a:r>
            <a:r>
              <a:rPr lang="en-US" altLang="zh-CN" dirty="0"/>
              <a:t>LDP 1.0 </a:t>
            </a:r>
            <a:r>
              <a:rPr lang="zh-CN" altLang="en-US" dirty="0"/>
              <a:t>产品缺陷情况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8A9A3A-144A-43C0-B040-DE73E4CD0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838" y="1398455"/>
            <a:ext cx="6745521" cy="46953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D8700B7-3F0D-4C6D-8D88-CB5591C03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14" y="941699"/>
            <a:ext cx="4648868" cy="588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1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FEE9AB9-D87E-4E13-BC66-78925AA6437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" y="1518371"/>
            <a:ext cx="7819726" cy="4257407"/>
          </a:xfr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FAB3E-EA8F-49CF-9DC8-1A1314B25A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前期调研</a:t>
            </a:r>
            <a:r>
              <a:rPr lang="en-US" altLang="zh-CN" dirty="0"/>
              <a:t>-</a:t>
            </a:r>
            <a:r>
              <a:rPr lang="zh-CN" altLang="en-US" dirty="0"/>
              <a:t>恒生交易类产品缺陷情况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399163-A17F-4F8F-8679-40C566AE0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295" y="880719"/>
            <a:ext cx="4694739" cy="586644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5B1C12F-3E60-413F-B010-3494F16D89F1}"/>
              </a:ext>
            </a:extLst>
          </p:cNvPr>
          <p:cNvSpPr txBox="1"/>
          <p:nvPr/>
        </p:nvSpPr>
        <p:spPr>
          <a:xfrm>
            <a:off x="720437" y="5855855"/>
            <a:ext cx="6225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G5 </a:t>
            </a:r>
            <a:r>
              <a:rPr lang="zh-CN" altLang="en-US" dirty="0"/>
              <a:t>中设计、代码相关的约占</a:t>
            </a:r>
            <a:r>
              <a:rPr lang="en-US" altLang="zh-CN" dirty="0"/>
              <a:t>xx%</a:t>
            </a:r>
            <a:r>
              <a:rPr lang="zh-CN" altLang="en-US" dirty="0"/>
              <a:t>，测试分析相关占</a:t>
            </a:r>
            <a:r>
              <a:rPr lang="en-US" altLang="zh-CN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65499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317" y="-2"/>
            <a:ext cx="12191697" cy="1234443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 sz="1733"/>
          </a:p>
        </p:txBody>
      </p:sp>
      <p:sp>
        <p:nvSpPr>
          <p:cNvPr id="415" name="Rectangle 5"/>
          <p:cNvSpPr/>
          <p:nvPr/>
        </p:nvSpPr>
        <p:spPr>
          <a:xfrm flipV="1">
            <a:off x="1" y="1227668"/>
            <a:ext cx="12192847" cy="384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 sz="1733"/>
          </a:p>
        </p:txBody>
      </p:sp>
      <p:sp>
        <p:nvSpPr>
          <p:cNvPr id="416" name="TextBox 2"/>
          <p:cNvSpPr txBox="1"/>
          <p:nvPr/>
        </p:nvSpPr>
        <p:spPr>
          <a:xfrm>
            <a:off x="609917" y="370841"/>
            <a:ext cx="1119124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rIns="60959">
            <a:spAutoFit/>
          </a:bodyPr>
          <a:lstStyle>
            <a:lvl1pPr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sz="2400" dirty="0" err="1"/>
              <a:t>恒生AI研发提效的问题与挑战：门控体系需要进一步建设与运营</a:t>
            </a:r>
            <a:endParaRPr sz="2400" dirty="0"/>
          </a:p>
        </p:txBody>
      </p:sp>
      <p:sp>
        <p:nvSpPr>
          <p:cNvPr id="417" name="Text 22"/>
          <p:cNvSpPr txBox="1"/>
          <p:nvPr/>
        </p:nvSpPr>
        <p:spPr>
          <a:xfrm>
            <a:off x="690948" y="145780"/>
            <a:ext cx="1870469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333"/>
              <a:t>AI原生研发能力体系</a:t>
            </a:r>
          </a:p>
        </p:txBody>
      </p:sp>
      <p:sp>
        <p:nvSpPr>
          <p:cNvPr id="418" name="Text 2"/>
          <p:cNvSpPr txBox="1"/>
          <p:nvPr/>
        </p:nvSpPr>
        <p:spPr>
          <a:xfrm>
            <a:off x="411481" y="1401121"/>
            <a:ext cx="4114801" cy="20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10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333"/>
              <a:t>现场缺陷案例</a:t>
            </a:r>
          </a:p>
        </p:txBody>
      </p:sp>
      <p:sp>
        <p:nvSpPr>
          <p:cNvPr id="419" name="Text 3"/>
          <p:cNvSpPr txBox="1"/>
          <p:nvPr/>
        </p:nvSpPr>
        <p:spPr>
          <a:xfrm>
            <a:off x="5303521" y="1401121"/>
            <a:ext cx="3520441" cy="20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10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333"/>
              <a:t>开发左移门控架构</a:t>
            </a:r>
          </a:p>
        </p:txBody>
      </p:sp>
      <p:sp>
        <p:nvSpPr>
          <p:cNvPr id="420" name="Shape 4"/>
          <p:cNvSpPr/>
          <p:nvPr/>
        </p:nvSpPr>
        <p:spPr>
          <a:xfrm flipH="1">
            <a:off x="5010913" y="1339087"/>
            <a:ext cx="1" cy="5577843"/>
          </a:xfrm>
          <a:prstGeom prst="line">
            <a:avLst/>
          </a:prstGeom>
          <a:ln w="3175">
            <a:solidFill>
              <a:srgbClr val="D9E2EC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1" name="Shape 5"/>
          <p:cNvSpPr/>
          <p:nvPr/>
        </p:nvSpPr>
        <p:spPr>
          <a:xfrm>
            <a:off x="9098281" y="1412240"/>
            <a:ext cx="210313" cy="210313"/>
          </a:xfrm>
          <a:prstGeom prst="ellipse">
            <a:avLst/>
          </a:prstGeom>
          <a:solidFill>
            <a:srgbClr val="2E74B5"/>
          </a:solidFill>
          <a:ln w="3175">
            <a:solidFill>
              <a:srgbClr val="2E74B5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2" name="Text 6"/>
          <p:cNvSpPr txBox="1"/>
          <p:nvPr/>
        </p:nvSpPr>
        <p:spPr>
          <a:xfrm>
            <a:off x="9098281" y="1425956"/>
            <a:ext cx="210313" cy="1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1</a:t>
            </a:r>
          </a:p>
        </p:txBody>
      </p:sp>
      <p:sp>
        <p:nvSpPr>
          <p:cNvPr id="423" name="Text 7"/>
          <p:cNvSpPr txBox="1"/>
          <p:nvPr/>
        </p:nvSpPr>
        <p:spPr>
          <a:xfrm>
            <a:off x="9345169" y="1412240"/>
            <a:ext cx="96012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API默认行为</a:t>
            </a:r>
          </a:p>
        </p:txBody>
      </p:sp>
      <p:sp>
        <p:nvSpPr>
          <p:cNvPr id="424" name="Shape 8"/>
          <p:cNvSpPr/>
          <p:nvPr/>
        </p:nvSpPr>
        <p:spPr>
          <a:xfrm>
            <a:off x="10405873" y="1412240"/>
            <a:ext cx="210313" cy="210313"/>
          </a:xfrm>
          <a:prstGeom prst="ellipse">
            <a:avLst/>
          </a:prstGeom>
          <a:solidFill>
            <a:srgbClr val="E67E22"/>
          </a:solidFill>
          <a:ln w="3175">
            <a:solidFill>
              <a:srgbClr val="E67E22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5" name="Text 9"/>
          <p:cNvSpPr txBox="1"/>
          <p:nvPr/>
        </p:nvSpPr>
        <p:spPr>
          <a:xfrm>
            <a:off x="10405873" y="1425956"/>
            <a:ext cx="210313" cy="1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2</a:t>
            </a:r>
          </a:p>
        </p:txBody>
      </p:sp>
      <p:sp>
        <p:nvSpPr>
          <p:cNvPr id="426" name="Text 10"/>
          <p:cNvSpPr txBox="1"/>
          <p:nvPr/>
        </p:nvSpPr>
        <p:spPr>
          <a:xfrm>
            <a:off x="10652760" y="1412240"/>
            <a:ext cx="713233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类型误用</a:t>
            </a:r>
          </a:p>
        </p:txBody>
      </p:sp>
      <p:sp>
        <p:nvSpPr>
          <p:cNvPr id="427" name="Shape 14"/>
          <p:cNvSpPr/>
          <p:nvPr/>
        </p:nvSpPr>
        <p:spPr>
          <a:xfrm>
            <a:off x="384049" y="1823720"/>
            <a:ext cx="4389121" cy="1481329"/>
          </a:xfrm>
          <a:prstGeom prst="roundRect">
            <a:avLst>
              <a:gd name="adj" fmla="val 6173"/>
            </a:avLst>
          </a:prstGeom>
          <a:solidFill>
            <a:srgbClr val="EAF3FC"/>
          </a:solidFill>
          <a:ln w="3175">
            <a:solidFill>
              <a:srgbClr val="E2E8F0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8" name="Shape 15"/>
          <p:cNvSpPr/>
          <p:nvPr/>
        </p:nvSpPr>
        <p:spPr>
          <a:xfrm>
            <a:off x="384049" y="1823720"/>
            <a:ext cx="82297" cy="1481329"/>
          </a:xfrm>
          <a:prstGeom prst="rect">
            <a:avLst/>
          </a:prstGeom>
          <a:solidFill>
            <a:srgbClr val="2E74B5"/>
          </a:solidFill>
          <a:ln w="3175">
            <a:solidFill>
              <a:srgbClr val="2E74B5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29" name="Shape 16"/>
          <p:cNvSpPr/>
          <p:nvPr/>
        </p:nvSpPr>
        <p:spPr>
          <a:xfrm>
            <a:off x="585217" y="1988312"/>
            <a:ext cx="685801" cy="274321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 w="3175">
            <a:solidFill>
              <a:srgbClr val="2E74B5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30" name="Text 17"/>
          <p:cNvSpPr txBox="1"/>
          <p:nvPr/>
        </p:nvSpPr>
        <p:spPr>
          <a:xfrm>
            <a:off x="585217" y="2050201"/>
            <a:ext cx="6858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缺陷1</a:t>
            </a:r>
          </a:p>
        </p:txBody>
      </p:sp>
      <p:sp>
        <p:nvSpPr>
          <p:cNvPr id="431" name="Text 18"/>
          <p:cNvSpPr txBox="1"/>
          <p:nvPr/>
        </p:nvSpPr>
        <p:spPr>
          <a:xfrm>
            <a:off x="1371601" y="1960881"/>
            <a:ext cx="3218689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9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200"/>
              <a:t>API 默认行为变化 + 未校验配置</a:t>
            </a:r>
          </a:p>
        </p:txBody>
      </p:sp>
      <p:sp>
        <p:nvSpPr>
          <p:cNvPr id="432" name="Text 19"/>
          <p:cNvSpPr txBox="1"/>
          <p:nvPr/>
        </p:nvSpPr>
        <p:spPr>
          <a:xfrm>
            <a:off x="585216" y="2390649"/>
            <a:ext cx="3986785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685800">
              <a:defRPr sz="7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经纪接口默认语义变化，机构 LDP 未校验取回配置值，导致计算出错、客户透支。</a:t>
            </a:r>
          </a:p>
        </p:txBody>
      </p:sp>
      <p:sp>
        <p:nvSpPr>
          <p:cNvPr id="433" name="Text 20"/>
          <p:cNvSpPr txBox="1"/>
          <p:nvPr/>
        </p:nvSpPr>
        <p:spPr>
          <a:xfrm>
            <a:off x="585216" y="2949802"/>
            <a:ext cx="3986785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70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可由门控：4 契约兼容</a:t>
            </a:r>
          </a:p>
        </p:txBody>
      </p:sp>
      <p:sp>
        <p:nvSpPr>
          <p:cNvPr id="434" name="Shape 21"/>
          <p:cNvSpPr/>
          <p:nvPr/>
        </p:nvSpPr>
        <p:spPr>
          <a:xfrm>
            <a:off x="384049" y="3561080"/>
            <a:ext cx="4389121" cy="1481329"/>
          </a:xfrm>
          <a:prstGeom prst="roundRect">
            <a:avLst>
              <a:gd name="adj" fmla="val 6173"/>
            </a:avLst>
          </a:prstGeom>
          <a:solidFill>
            <a:srgbClr val="FFF3E6"/>
          </a:solidFill>
          <a:ln w="3175">
            <a:solidFill>
              <a:srgbClr val="E2E8F0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35" name="Shape 22"/>
          <p:cNvSpPr/>
          <p:nvPr/>
        </p:nvSpPr>
        <p:spPr>
          <a:xfrm>
            <a:off x="384049" y="3561080"/>
            <a:ext cx="82297" cy="1481329"/>
          </a:xfrm>
          <a:prstGeom prst="rect">
            <a:avLst/>
          </a:prstGeom>
          <a:solidFill>
            <a:srgbClr val="E67E22"/>
          </a:solidFill>
          <a:ln w="3175">
            <a:solidFill>
              <a:srgbClr val="E67E22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36" name="Shape 23"/>
          <p:cNvSpPr/>
          <p:nvPr/>
        </p:nvSpPr>
        <p:spPr>
          <a:xfrm>
            <a:off x="585217" y="3725672"/>
            <a:ext cx="685801" cy="274321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3175">
            <a:solidFill>
              <a:srgbClr val="E67E22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37" name="Text 24"/>
          <p:cNvSpPr txBox="1"/>
          <p:nvPr/>
        </p:nvSpPr>
        <p:spPr>
          <a:xfrm>
            <a:off x="585217" y="3787562"/>
            <a:ext cx="6858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缺陷2</a:t>
            </a:r>
          </a:p>
        </p:txBody>
      </p:sp>
      <p:sp>
        <p:nvSpPr>
          <p:cNvPr id="438" name="Text 25"/>
          <p:cNvSpPr txBox="1"/>
          <p:nvPr/>
        </p:nvSpPr>
        <p:spPr>
          <a:xfrm>
            <a:off x="1371601" y="3698241"/>
            <a:ext cx="3218689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9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200"/>
              <a:t>C++ char / int 类型误用</a:t>
            </a:r>
          </a:p>
        </p:txBody>
      </p:sp>
      <p:sp>
        <p:nvSpPr>
          <p:cNvPr id="439" name="Text 26"/>
          <p:cNvSpPr txBox="1"/>
          <p:nvPr/>
        </p:nvSpPr>
        <p:spPr>
          <a:xfrm>
            <a:off x="585216" y="4128008"/>
            <a:ext cx="3986785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685800">
              <a:defRPr sz="7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证券类别比较时类型用错，if 判断长期为 false，卖券还款流程执行错误。</a:t>
            </a:r>
          </a:p>
        </p:txBody>
      </p:sp>
      <p:sp>
        <p:nvSpPr>
          <p:cNvPr id="440" name="Text 27"/>
          <p:cNvSpPr txBox="1"/>
          <p:nvPr/>
        </p:nvSpPr>
        <p:spPr>
          <a:xfrm>
            <a:off x="585216" y="4687162"/>
            <a:ext cx="3986785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7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可由门控：2 类型与基础测试</a:t>
            </a:r>
          </a:p>
        </p:txBody>
      </p:sp>
      <p:sp>
        <p:nvSpPr>
          <p:cNvPr id="441" name="Shape 28"/>
          <p:cNvSpPr/>
          <p:nvPr/>
        </p:nvSpPr>
        <p:spPr>
          <a:xfrm>
            <a:off x="384049" y="5298441"/>
            <a:ext cx="4389121" cy="1481329"/>
          </a:xfrm>
          <a:prstGeom prst="roundRect">
            <a:avLst>
              <a:gd name="adj" fmla="val 6173"/>
            </a:avLst>
          </a:prstGeom>
          <a:solidFill>
            <a:srgbClr val="F1EEFF"/>
          </a:solidFill>
          <a:ln w="3175">
            <a:solidFill>
              <a:srgbClr val="E2E8F0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42" name="Shape 29"/>
          <p:cNvSpPr/>
          <p:nvPr/>
        </p:nvSpPr>
        <p:spPr>
          <a:xfrm>
            <a:off x="384049" y="5298441"/>
            <a:ext cx="82297" cy="1481329"/>
          </a:xfrm>
          <a:prstGeom prst="rect">
            <a:avLst/>
          </a:prstGeom>
          <a:solidFill>
            <a:srgbClr val="7B61FF"/>
          </a:solidFill>
          <a:ln w="3175">
            <a:solidFill>
              <a:srgbClr val="7B61FF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43" name="Shape 30"/>
          <p:cNvSpPr/>
          <p:nvPr/>
        </p:nvSpPr>
        <p:spPr>
          <a:xfrm>
            <a:off x="585217" y="5463032"/>
            <a:ext cx="685801" cy="274321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 w="3175">
            <a:solidFill>
              <a:srgbClr val="7B61FF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44" name="Text 31"/>
          <p:cNvSpPr txBox="1"/>
          <p:nvPr/>
        </p:nvSpPr>
        <p:spPr>
          <a:xfrm>
            <a:off x="585217" y="5524922"/>
            <a:ext cx="6858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缺陷3</a:t>
            </a:r>
          </a:p>
        </p:txBody>
      </p:sp>
      <p:sp>
        <p:nvSpPr>
          <p:cNvPr id="445" name="Text 32"/>
          <p:cNvSpPr txBox="1"/>
          <p:nvPr/>
        </p:nvSpPr>
        <p:spPr>
          <a:xfrm>
            <a:off x="1371601" y="5435601"/>
            <a:ext cx="3218689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9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200"/>
              <a:t>魔法数写错，走错业务分支</a:t>
            </a:r>
          </a:p>
        </p:txBody>
      </p:sp>
      <p:sp>
        <p:nvSpPr>
          <p:cNvPr id="446" name="Text 33"/>
          <p:cNvSpPr txBox="1"/>
          <p:nvPr/>
        </p:nvSpPr>
        <p:spPr>
          <a:xfrm>
            <a:off x="585216" y="5865369"/>
            <a:ext cx="3986785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685800">
              <a:defRPr sz="7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常量值记混导致代码进入错误分支，客户交易始终委托失败。</a:t>
            </a:r>
          </a:p>
        </p:txBody>
      </p:sp>
      <p:sp>
        <p:nvSpPr>
          <p:cNvPr id="447" name="Text 34"/>
          <p:cNvSpPr txBox="1"/>
          <p:nvPr/>
        </p:nvSpPr>
        <p:spPr>
          <a:xfrm>
            <a:off x="585216" y="6424521"/>
            <a:ext cx="3986785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sz="70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可由门控：1 代码规范、2 基础测试、3 静态分析、5 Review、6 集成测试</a:t>
            </a:r>
          </a:p>
        </p:txBody>
      </p:sp>
      <p:sp>
        <p:nvSpPr>
          <p:cNvPr id="448" name="Shape 35"/>
          <p:cNvSpPr/>
          <p:nvPr/>
        </p:nvSpPr>
        <p:spPr>
          <a:xfrm>
            <a:off x="5321807" y="177800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9FBFD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49" name="Shape 36"/>
          <p:cNvSpPr/>
          <p:nvPr/>
        </p:nvSpPr>
        <p:spPr>
          <a:xfrm>
            <a:off x="5440680" y="1896873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50" name="Text 37"/>
          <p:cNvSpPr txBox="1"/>
          <p:nvPr/>
        </p:nvSpPr>
        <p:spPr>
          <a:xfrm>
            <a:off x="5440680" y="1972478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1</a:t>
            </a:r>
          </a:p>
        </p:txBody>
      </p:sp>
      <p:sp>
        <p:nvSpPr>
          <p:cNvPr id="451" name="Text 38"/>
          <p:cNvSpPr txBox="1"/>
          <p:nvPr/>
        </p:nvSpPr>
        <p:spPr>
          <a:xfrm>
            <a:off x="5870447" y="185115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代码规范门控</a:t>
            </a:r>
          </a:p>
        </p:txBody>
      </p:sp>
      <p:sp>
        <p:nvSpPr>
          <p:cNvPr id="452" name="Text 39"/>
          <p:cNvSpPr txBox="1"/>
          <p:nvPr/>
        </p:nvSpPr>
        <p:spPr>
          <a:xfrm>
            <a:off x="5870447" y="2061465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拦截：硬编码、命名与编码约定问题</a:t>
            </a:r>
          </a:p>
        </p:txBody>
      </p:sp>
      <p:sp>
        <p:nvSpPr>
          <p:cNvPr id="453" name="Shape 42"/>
          <p:cNvSpPr/>
          <p:nvPr/>
        </p:nvSpPr>
        <p:spPr>
          <a:xfrm>
            <a:off x="5321807" y="2418080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54" name="Shape 43"/>
          <p:cNvSpPr/>
          <p:nvPr/>
        </p:nvSpPr>
        <p:spPr>
          <a:xfrm>
            <a:off x="5440680" y="253695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55" name="Text 44"/>
          <p:cNvSpPr txBox="1"/>
          <p:nvPr/>
        </p:nvSpPr>
        <p:spPr>
          <a:xfrm>
            <a:off x="5440680" y="2612557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2</a:t>
            </a:r>
          </a:p>
        </p:txBody>
      </p:sp>
      <p:sp>
        <p:nvSpPr>
          <p:cNvPr id="456" name="Text 45"/>
          <p:cNvSpPr txBox="1"/>
          <p:nvPr/>
        </p:nvSpPr>
        <p:spPr>
          <a:xfrm>
            <a:off x="5870447" y="249123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语言、构建与基础测试门控</a:t>
            </a:r>
          </a:p>
        </p:txBody>
      </p:sp>
      <p:sp>
        <p:nvSpPr>
          <p:cNvPr id="457" name="Text 46"/>
          <p:cNvSpPr txBox="1"/>
          <p:nvPr/>
        </p:nvSpPr>
        <p:spPr>
          <a:xfrm>
            <a:off x="5870447" y="2701545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拦截：类型误用、编译告警、关键分支单测缺失</a:t>
            </a:r>
          </a:p>
        </p:txBody>
      </p:sp>
      <p:sp>
        <p:nvSpPr>
          <p:cNvPr id="458" name="Shape 47"/>
          <p:cNvSpPr/>
          <p:nvPr/>
        </p:nvSpPr>
        <p:spPr>
          <a:xfrm>
            <a:off x="10991089" y="2573528"/>
            <a:ext cx="228601" cy="228601"/>
          </a:xfrm>
          <a:prstGeom prst="ellipse">
            <a:avLst/>
          </a:prstGeom>
          <a:solidFill>
            <a:srgbClr val="E67E22"/>
          </a:solidFill>
          <a:ln w="3175">
            <a:solidFill>
              <a:srgbClr val="E67E22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59" name="Text 48"/>
          <p:cNvSpPr txBox="1"/>
          <p:nvPr/>
        </p:nvSpPr>
        <p:spPr>
          <a:xfrm>
            <a:off x="10991089" y="2587245"/>
            <a:ext cx="22860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2</a:t>
            </a:r>
          </a:p>
        </p:txBody>
      </p:sp>
      <p:sp>
        <p:nvSpPr>
          <p:cNvPr id="460" name="Shape 51"/>
          <p:cNvSpPr/>
          <p:nvPr/>
        </p:nvSpPr>
        <p:spPr>
          <a:xfrm>
            <a:off x="5321807" y="305816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61" name="Shape 52"/>
          <p:cNvSpPr/>
          <p:nvPr/>
        </p:nvSpPr>
        <p:spPr>
          <a:xfrm>
            <a:off x="5440680" y="317703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62" name="Text 53"/>
          <p:cNvSpPr txBox="1"/>
          <p:nvPr/>
        </p:nvSpPr>
        <p:spPr>
          <a:xfrm>
            <a:off x="5440680" y="3252638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3</a:t>
            </a:r>
          </a:p>
        </p:txBody>
      </p:sp>
      <p:sp>
        <p:nvSpPr>
          <p:cNvPr id="463" name="Text 54"/>
          <p:cNvSpPr txBox="1"/>
          <p:nvPr/>
        </p:nvSpPr>
        <p:spPr>
          <a:xfrm>
            <a:off x="5870447" y="313131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静态质量与安全门控</a:t>
            </a:r>
          </a:p>
        </p:txBody>
      </p:sp>
      <p:sp>
        <p:nvSpPr>
          <p:cNvPr id="464" name="Text 55"/>
          <p:cNvSpPr txBox="1"/>
          <p:nvPr/>
        </p:nvSpPr>
        <p:spPr>
          <a:xfrm>
            <a:off x="5870447" y="3341624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拦截：可疑比较、常量误用、恒真/恒假分支</a:t>
            </a:r>
          </a:p>
        </p:txBody>
      </p:sp>
      <p:sp>
        <p:nvSpPr>
          <p:cNvPr id="465" name="Shape 60"/>
          <p:cNvSpPr/>
          <p:nvPr/>
        </p:nvSpPr>
        <p:spPr>
          <a:xfrm>
            <a:off x="5321807" y="369824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9FBFD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66" name="Shape 61"/>
          <p:cNvSpPr/>
          <p:nvPr/>
        </p:nvSpPr>
        <p:spPr>
          <a:xfrm>
            <a:off x="5440680" y="381711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67" name="Text 62"/>
          <p:cNvSpPr txBox="1"/>
          <p:nvPr/>
        </p:nvSpPr>
        <p:spPr>
          <a:xfrm>
            <a:off x="5440680" y="3892717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4</a:t>
            </a:r>
          </a:p>
        </p:txBody>
      </p:sp>
      <p:sp>
        <p:nvSpPr>
          <p:cNvPr id="468" name="Text 63"/>
          <p:cNvSpPr txBox="1"/>
          <p:nvPr/>
        </p:nvSpPr>
        <p:spPr>
          <a:xfrm>
            <a:off x="5870447" y="3771393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接口、契约与数据兼容门控</a:t>
            </a:r>
          </a:p>
        </p:txBody>
      </p:sp>
      <p:sp>
        <p:nvSpPr>
          <p:cNvPr id="469" name="Text 64"/>
          <p:cNvSpPr txBox="1"/>
          <p:nvPr/>
        </p:nvSpPr>
        <p:spPr>
          <a:xfrm>
            <a:off x="5870447" y="3981704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拦截：API 默认语义变化、返回值契约破坏</a:t>
            </a:r>
          </a:p>
        </p:txBody>
      </p:sp>
      <p:sp>
        <p:nvSpPr>
          <p:cNvPr id="470" name="Shape 65"/>
          <p:cNvSpPr/>
          <p:nvPr/>
        </p:nvSpPr>
        <p:spPr>
          <a:xfrm>
            <a:off x="10991089" y="3853689"/>
            <a:ext cx="228601" cy="228601"/>
          </a:xfrm>
          <a:prstGeom prst="ellipse">
            <a:avLst/>
          </a:prstGeom>
          <a:solidFill>
            <a:srgbClr val="2E74B5"/>
          </a:solidFill>
          <a:ln w="3175">
            <a:solidFill>
              <a:srgbClr val="2E74B5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71" name="Text 66"/>
          <p:cNvSpPr txBox="1"/>
          <p:nvPr/>
        </p:nvSpPr>
        <p:spPr>
          <a:xfrm>
            <a:off x="10991089" y="3867404"/>
            <a:ext cx="22860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1</a:t>
            </a:r>
          </a:p>
        </p:txBody>
      </p:sp>
      <p:sp>
        <p:nvSpPr>
          <p:cNvPr id="472" name="Shape 67"/>
          <p:cNvSpPr/>
          <p:nvPr/>
        </p:nvSpPr>
        <p:spPr>
          <a:xfrm>
            <a:off x="5321807" y="433832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73" name="Shape 68"/>
          <p:cNvSpPr/>
          <p:nvPr/>
        </p:nvSpPr>
        <p:spPr>
          <a:xfrm>
            <a:off x="5440680" y="4457193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74" name="Text 69"/>
          <p:cNvSpPr txBox="1"/>
          <p:nvPr/>
        </p:nvSpPr>
        <p:spPr>
          <a:xfrm>
            <a:off x="5440680" y="4532798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5</a:t>
            </a:r>
          </a:p>
        </p:txBody>
      </p:sp>
      <p:sp>
        <p:nvSpPr>
          <p:cNvPr id="475" name="Text 70"/>
          <p:cNvSpPr txBox="1"/>
          <p:nvPr/>
        </p:nvSpPr>
        <p:spPr>
          <a:xfrm>
            <a:off x="5870447" y="441147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 dirty="0"/>
              <a:t>Agentic</a:t>
            </a:r>
            <a:r>
              <a:rPr lang="en-US" sz="933" dirty="0"/>
              <a:t> Design and</a:t>
            </a:r>
            <a:r>
              <a:rPr sz="933" dirty="0"/>
              <a:t> Code Review</a:t>
            </a:r>
          </a:p>
        </p:txBody>
      </p:sp>
      <p:sp>
        <p:nvSpPr>
          <p:cNvPr id="476" name="Text 71"/>
          <p:cNvSpPr txBox="1"/>
          <p:nvPr/>
        </p:nvSpPr>
        <p:spPr>
          <a:xfrm>
            <a:off x="5870447" y="4621785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拦截：未校验返回值、隐含语义变化、范围外修改</a:t>
            </a:r>
          </a:p>
        </p:txBody>
      </p:sp>
      <p:sp>
        <p:nvSpPr>
          <p:cNvPr id="477" name="Shape 74"/>
          <p:cNvSpPr/>
          <p:nvPr/>
        </p:nvSpPr>
        <p:spPr>
          <a:xfrm>
            <a:off x="11011408" y="4493769"/>
            <a:ext cx="228601" cy="228601"/>
          </a:xfrm>
          <a:prstGeom prst="ellipse">
            <a:avLst/>
          </a:prstGeom>
          <a:solidFill>
            <a:srgbClr val="7B61FF"/>
          </a:solidFill>
          <a:ln w="3175">
            <a:solidFill>
              <a:srgbClr val="7B61FF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78" name="Text 75"/>
          <p:cNvSpPr txBox="1"/>
          <p:nvPr/>
        </p:nvSpPr>
        <p:spPr>
          <a:xfrm>
            <a:off x="11011408" y="4507485"/>
            <a:ext cx="22860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3</a:t>
            </a:r>
          </a:p>
        </p:txBody>
      </p:sp>
      <p:sp>
        <p:nvSpPr>
          <p:cNvPr id="479" name="Shape 76"/>
          <p:cNvSpPr/>
          <p:nvPr/>
        </p:nvSpPr>
        <p:spPr>
          <a:xfrm>
            <a:off x="5321807" y="4978401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80" name="Shape 77"/>
          <p:cNvSpPr/>
          <p:nvPr/>
        </p:nvSpPr>
        <p:spPr>
          <a:xfrm>
            <a:off x="5440680" y="509727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81" name="Text 78"/>
          <p:cNvSpPr txBox="1"/>
          <p:nvPr/>
        </p:nvSpPr>
        <p:spPr>
          <a:xfrm>
            <a:off x="5440680" y="5172877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6</a:t>
            </a:r>
          </a:p>
        </p:txBody>
      </p:sp>
      <p:sp>
        <p:nvSpPr>
          <p:cNvPr id="482" name="Text 79"/>
          <p:cNvSpPr txBox="1"/>
          <p:nvPr/>
        </p:nvSpPr>
        <p:spPr>
          <a:xfrm>
            <a:off x="5870447" y="5051553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 dirty="0" err="1"/>
              <a:t>运行时和系统集成测试门控</a:t>
            </a:r>
            <a:endParaRPr sz="933" dirty="0"/>
          </a:p>
        </p:txBody>
      </p:sp>
      <p:sp>
        <p:nvSpPr>
          <p:cNvPr id="483" name="Text 80"/>
          <p:cNvSpPr txBox="1"/>
          <p:nvPr/>
        </p:nvSpPr>
        <p:spPr>
          <a:xfrm>
            <a:off x="5870447" y="5261864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 dirty="0" err="1"/>
              <a:t>拦截：LDP</a:t>
            </a:r>
            <a:r>
              <a:rPr sz="800" dirty="0"/>
              <a:t> </a:t>
            </a:r>
            <a:r>
              <a:rPr sz="800" dirty="0" err="1"/>
              <a:t>对接、交易委托等端到端链路回归</a:t>
            </a:r>
            <a:endParaRPr sz="800" dirty="0"/>
          </a:p>
        </p:txBody>
      </p:sp>
      <p:sp>
        <p:nvSpPr>
          <p:cNvPr id="484" name="Shape 85"/>
          <p:cNvSpPr/>
          <p:nvPr/>
        </p:nvSpPr>
        <p:spPr>
          <a:xfrm>
            <a:off x="5321807" y="5618480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9FBFD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85" name="Shape 86"/>
          <p:cNvSpPr/>
          <p:nvPr/>
        </p:nvSpPr>
        <p:spPr>
          <a:xfrm>
            <a:off x="5440680" y="5737353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86" name="Text 87"/>
          <p:cNvSpPr txBox="1"/>
          <p:nvPr/>
        </p:nvSpPr>
        <p:spPr>
          <a:xfrm>
            <a:off x="5440680" y="5812957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7</a:t>
            </a:r>
          </a:p>
        </p:txBody>
      </p:sp>
      <p:sp>
        <p:nvSpPr>
          <p:cNvPr id="487" name="Text 88"/>
          <p:cNvSpPr txBox="1"/>
          <p:nvPr/>
        </p:nvSpPr>
        <p:spPr>
          <a:xfrm>
            <a:off x="5870447" y="569163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Agentic Execution Code Review</a:t>
            </a:r>
          </a:p>
        </p:txBody>
      </p:sp>
      <p:sp>
        <p:nvSpPr>
          <p:cNvPr id="488" name="Text 89"/>
          <p:cNvSpPr txBox="1"/>
          <p:nvPr/>
        </p:nvSpPr>
        <p:spPr>
          <a:xfrm>
            <a:off x="5870447" y="5901945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拦截：通过沙箱实验复现分支、类型和数据异常</a:t>
            </a:r>
          </a:p>
        </p:txBody>
      </p:sp>
      <p:sp>
        <p:nvSpPr>
          <p:cNvPr id="489" name="Shape 92"/>
          <p:cNvSpPr/>
          <p:nvPr/>
        </p:nvSpPr>
        <p:spPr>
          <a:xfrm>
            <a:off x="5321807" y="6258560"/>
            <a:ext cx="6492243" cy="5486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DBE4EF"/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90" name="Shape 93"/>
          <p:cNvSpPr/>
          <p:nvPr/>
        </p:nvSpPr>
        <p:spPr>
          <a:xfrm>
            <a:off x="5440680" y="6377432"/>
            <a:ext cx="320041" cy="320041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3175">
            <a:solidFill>
              <a:srgbClr val="17365D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91" name="Text 94"/>
          <p:cNvSpPr txBox="1"/>
          <p:nvPr/>
        </p:nvSpPr>
        <p:spPr>
          <a:xfrm>
            <a:off x="5440680" y="6453038"/>
            <a:ext cx="32004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8</a:t>
            </a:r>
          </a:p>
        </p:txBody>
      </p:sp>
      <p:sp>
        <p:nvSpPr>
          <p:cNvPr id="492" name="Text 95"/>
          <p:cNvSpPr txBox="1"/>
          <p:nvPr/>
        </p:nvSpPr>
        <p:spPr>
          <a:xfrm>
            <a:off x="5870447" y="6331712"/>
            <a:ext cx="2788923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933"/>
              <a:t>业务不变量与高风险专项门控</a:t>
            </a:r>
          </a:p>
        </p:txBody>
      </p:sp>
      <p:sp>
        <p:nvSpPr>
          <p:cNvPr id="493" name="Text 96"/>
          <p:cNvSpPr txBox="1"/>
          <p:nvPr/>
        </p:nvSpPr>
        <p:spPr>
          <a:xfrm>
            <a:off x="5870447" y="6542024"/>
            <a:ext cx="4892043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拦截：客户透支、卖券还款异常、委托成功率异常</a:t>
            </a:r>
          </a:p>
        </p:txBody>
      </p:sp>
      <p:sp>
        <p:nvSpPr>
          <p:cNvPr id="495" name="Shape 11"/>
          <p:cNvSpPr/>
          <p:nvPr/>
        </p:nvSpPr>
        <p:spPr>
          <a:xfrm>
            <a:off x="11411712" y="1395306"/>
            <a:ext cx="210313" cy="210313"/>
          </a:xfrm>
          <a:prstGeom prst="ellipse">
            <a:avLst/>
          </a:prstGeom>
          <a:solidFill>
            <a:srgbClr val="7B61FF"/>
          </a:solidFill>
          <a:ln w="3175">
            <a:solidFill>
              <a:srgbClr val="7B61FF">
                <a:alpha val="0"/>
              </a:srgbClr>
            </a:solidFill>
          </a:ln>
        </p:spPr>
        <p:txBody>
          <a:bodyPr lIns="45719" tIns="45719" rIns="45719" bIns="45719"/>
          <a:lstStyle/>
          <a:p>
            <a:pPr defTabSz="914377">
              <a:defRPr sz="1200"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 sz="1600"/>
          </a:p>
        </p:txBody>
      </p:sp>
      <p:sp>
        <p:nvSpPr>
          <p:cNvPr id="496" name="Text 12"/>
          <p:cNvSpPr txBox="1"/>
          <p:nvPr/>
        </p:nvSpPr>
        <p:spPr>
          <a:xfrm>
            <a:off x="11411712" y="1409022"/>
            <a:ext cx="210313" cy="1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685800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3</a:t>
            </a:r>
          </a:p>
        </p:txBody>
      </p:sp>
      <p:sp>
        <p:nvSpPr>
          <p:cNvPr id="497" name="Text 13"/>
          <p:cNvSpPr txBox="1"/>
          <p:nvPr/>
        </p:nvSpPr>
        <p:spPr>
          <a:xfrm>
            <a:off x="11658601" y="1395306"/>
            <a:ext cx="41148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685800">
              <a:defRPr sz="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800"/>
              <a:t>魔法数</a:t>
            </a:r>
          </a:p>
        </p:txBody>
      </p:sp>
      <p:sp>
        <p:nvSpPr>
          <p:cNvPr id="2" name="星形: 六角 1">
            <a:extLst>
              <a:ext uri="{FF2B5EF4-FFF2-40B4-BE49-F238E27FC236}">
                <a16:creationId xmlns:a16="http://schemas.microsoft.com/office/drawing/2014/main" id="{6103DB28-7F92-47C1-B958-92FED24AEC02}"/>
              </a:ext>
            </a:extLst>
          </p:cNvPr>
          <p:cNvSpPr/>
          <p:nvPr/>
        </p:nvSpPr>
        <p:spPr>
          <a:xfrm>
            <a:off x="4892040" y="4396531"/>
            <a:ext cx="518755" cy="518755"/>
          </a:xfrm>
          <a:prstGeom prst="star6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51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199456" y="319481"/>
            <a:ext cx="6725344" cy="672075"/>
          </a:xfrm>
        </p:spPr>
        <p:txBody>
          <a:bodyPr>
            <a:normAutofit/>
          </a:bodyPr>
          <a:lstStyle/>
          <a:p>
            <a:pPr algn="l"/>
            <a:r>
              <a:rPr lang="en-US" altLang="zh-CN" b="1" i="0" dirty="0">
                <a:solidFill>
                  <a:srgbClr val="0F4C81"/>
                </a:solidFill>
                <a:effectLst/>
                <a:latin typeface="PingFang SC"/>
              </a:rPr>
              <a:t>CR </a:t>
            </a:r>
            <a:r>
              <a:rPr lang="zh-CN" altLang="en-US" b="1" i="0" dirty="0">
                <a:solidFill>
                  <a:srgbClr val="0F4C81"/>
                </a:solidFill>
                <a:effectLst/>
                <a:latin typeface="PingFang SC"/>
              </a:rPr>
              <a:t>不是“写一段 </a:t>
            </a:r>
            <a:r>
              <a:rPr lang="en-US" altLang="zh-CN" b="1" i="0" dirty="0">
                <a:solidFill>
                  <a:srgbClr val="0F4C81"/>
                </a:solidFill>
                <a:effectLst/>
                <a:latin typeface="PingFang SC"/>
              </a:rPr>
              <a:t>Skill”</a:t>
            </a:r>
            <a:r>
              <a:rPr lang="zh-CN" altLang="en-US" b="1" i="0" dirty="0">
                <a:solidFill>
                  <a:srgbClr val="0F4C81"/>
                </a:solidFill>
                <a:effectLst/>
                <a:latin typeface="PingFang SC"/>
              </a:rPr>
              <a:t>那么简单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FC9CCC0-6784-4624-9F4D-629F16F50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52" y="1062329"/>
            <a:ext cx="11238095" cy="5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9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199456" y="319481"/>
            <a:ext cx="6725344" cy="672075"/>
          </a:xfrm>
        </p:spPr>
        <p:txBody>
          <a:bodyPr>
            <a:normAutofit/>
          </a:bodyPr>
          <a:lstStyle/>
          <a:p>
            <a:pPr algn="l"/>
            <a:r>
              <a:rPr lang="en-US" altLang="zh-CN" b="1" i="0" dirty="0">
                <a:solidFill>
                  <a:srgbClr val="0F4C81"/>
                </a:solidFill>
                <a:effectLst/>
                <a:latin typeface="PingFang SC"/>
              </a:rPr>
              <a:t>Open Code Review</a:t>
            </a:r>
            <a:r>
              <a:rPr lang="zh-CN" altLang="en-US" b="1" i="0" dirty="0">
                <a:solidFill>
                  <a:srgbClr val="0F4C81"/>
                </a:solidFill>
                <a:effectLst/>
                <a:latin typeface="PingFang SC"/>
              </a:rPr>
              <a:t>概述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0DCBBE-F7EB-4F14-BC5A-1FACC04AF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36" y="3103030"/>
            <a:ext cx="9938327" cy="360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5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199455" y="319481"/>
            <a:ext cx="8184689" cy="67207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zh-CN" altLang="en-US" b="1" i="0" dirty="0">
                <a:solidFill>
                  <a:srgbClr val="0F4C81"/>
                </a:solidFill>
                <a:effectLst/>
                <a:latin typeface="PingFang SC"/>
              </a:rPr>
              <a:t>现存开源 </a:t>
            </a:r>
            <a:r>
              <a:rPr lang="en-US" altLang="zh-CN" b="1" i="0" dirty="0">
                <a:solidFill>
                  <a:srgbClr val="0F4C81"/>
                </a:solidFill>
                <a:effectLst/>
                <a:latin typeface="PingFang SC"/>
              </a:rPr>
              <a:t>CR </a:t>
            </a:r>
            <a:r>
              <a:rPr lang="zh-CN" altLang="en-US" b="1" i="0" dirty="0">
                <a:solidFill>
                  <a:srgbClr val="0F4C81"/>
                </a:solidFill>
                <a:effectLst/>
                <a:latin typeface="PingFang SC"/>
              </a:rPr>
              <a:t>方案（如 </a:t>
            </a:r>
            <a:r>
              <a:rPr lang="en-US" altLang="zh-CN" b="1" i="0" dirty="0">
                <a:solidFill>
                  <a:srgbClr val="0F4C81"/>
                </a:solidFill>
                <a:effectLst/>
                <a:latin typeface="PingFang SC"/>
              </a:rPr>
              <a:t>Open Code Review</a:t>
            </a:r>
            <a:r>
              <a:rPr lang="zh-CN" altLang="en-US" b="1" i="0" dirty="0">
                <a:solidFill>
                  <a:srgbClr val="0F4C81"/>
                </a:solidFill>
                <a:effectLst/>
                <a:latin typeface="PingFang SC"/>
              </a:rPr>
              <a:t>）的局限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C3F627-67A2-4221-B944-660B021A4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09" y="1295666"/>
            <a:ext cx="11552381" cy="4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84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736D6-D774-4E28-B02F-117D39058B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研究院主要发力点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E1A1F6B-BAE4-48EB-9BED-A27E8A050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3" y="895666"/>
            <a:ext cx="11533333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59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81D52-3A89-4E23-80C7-2268DB6ECB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当前进展</a:t>
            </a:r>
            <a:r>
              <a:rPr lang="en-US" altLang="zh-CN" dirty="0"/>
              <a:t>-</a:t>
            </a:r>
            <a:r>
              <a:rPr lang="zh-CN" altLang="en-US" dirty="0"/>
              <a:t>开源集准备与评测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80B9F1-1A5F-4C00-8FDD-FE1C2EC3E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868" y="991556"/>
            <a:ext cx="8538264" cy="570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51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81D52-3A89-4E23-80C7-2268DB6ECB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99456" y="319481"/>
            <a:ext cx="10466071" cy="672075"/>
          </a:xfrm>
        </p:spPr>
        <p:txBody>
          <a:bodyPr>
            <a:normAutofit/>
          </a:bodyPr>
          <a:lstStyle/>
          <a:p>
            <a:r>
              <a:rPr lang="zh-CN" altLang="en-US" dirty="0"/>
              <a:t>当前进展</a:t>
            </a:r>
            <a:r>
              <a:rPr lang="en-US" altLang="zh-CN" dirty="0"/>
              <a:t>-</a:t>
            </a:r>
            <a:r>
              <a:rPr lang="zh-CN" altLang="en-US" dirty="0"/>
              <a:t>开源集准备与评测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7D1DEEE-EAD6-408D-AE2A-B258766B91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补充各种开源</a:t>
            </a:r>
            <a:r>
              <a:rPr lang="en-US" altLang="zh-CN" dirty="0"/>
              <a:t>CR</a:t>
            </a:r>
            <a:r>
              <a:rPr lang="zh-CN" altLang="en-US" dirty="0"/>
              <a:t>的评测对比，等下待补充</a:t>
            </a:r>
            <a:r>
              <a:rPr lang="en-US" altLang="zh-CN" dirty="0"/>
              <a:t>open code review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8AE7C76-39E1-4C46-B9BB-206920EE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28" y="2079243"/>
            <a:ext cx="9657143" cy="3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30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81D52-3A89-4E23-80C7-2268DB6ECB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当前进展</a:t>
            </a:r>
            <a:r>
              <a:rPr lang="en-US" altLang="zh-CN" dirty="0"/>
              <a:t>-</a:t>
            </a:r>
            <a:r>
              <a:rPr lang="zh-CN" altLang="en-US" dirty="0"/>
              <a:t>恒生数据集准备与流水线搭建中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9D437D-9D77-4D44-A3B1-621A9C3F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0" y="1458731"/>
            <a:ext cx="7152759" cy="394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C8D2718-E430-4961-96E9-0DA1CA3C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19" y="999535"/>
            <a:ext cx="4287281" cy="535595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A173A78-0256-42B3-BD86-306B245F76B1}"/>
              </a:ext>
            </a:extLst>
          </p:cNvPr>
          <p:cNvSpPr txBox="1"/>
          <p:nvPr/>
        </p:nvSpPr>
        <p:spPr>
          <a:xfrm>
            <a:off x="231502" y="6381640"/>
            <a:ext cx="466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定义需要收集的关键信息与对应效能</a:t>
            </a:r>
            <a:r>
              <a:rPr lang="en-US" altLang="zh-CN" dirty="0"/>
              <a:t>MCP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AFB62B-D14B-416A-843D-703B9493C0A4}"/>
              </a:ext>
            </a:extLst>
          </p:cNvPr>
          <p:cNvSpPr txBox="1"/>
          <p:nvPr/>
        </p:nvSpPr>
        <p:spPr>
          <a:xfrm>
            <a:off x="5768659" y="5812377"/>
            <a:ext cx="496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需求、任务、缺陷等关键数据收集流水线</a:t>
            </a:r>
          </a:p>
        </p:txBody>
      </p:sp>
    </p:spTree>
    <p:extLst>
      <p:ext uri="{BB962C8B-B14F-4D97-AF65-F5344CB8AC3E}">
        <p14:creationId xmlns:p14="http://schemas.microsoft.com/office/powerpoint/2010/main" val="1029036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81D52-3A89-4E23-80C7-2268DB6ECB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99456" y="319481"/>
            <a:ext cx="9985780" cy="672075"/>
          </a:xfrm>
        </p:spPr>
        <p:txBody>
          <a:bodyPr>
            <a:normAutofit/>
          </a:bodyPr>
          <a:lstStyle/>
          <a:p>
            <a:pPr algn="l"/>
            <a:r>
              <a:rPr lang="zh-CN" altLang="en-US" sz="3000" dirty="0"/>
              <a:t>近期规划：</a:t>
            </a:r>
            <a:r>
              <a:rPr lang="en-US" altLang="zh-CN" sz="3000" dirty="0"/>
              <a:t>MVP </a:t>
            </a:r>
            <a:r>
              <a:rPr lang="zh-CN" altLang="en-US" sz="3000" dirty="0"/>
              <a:t>交付与试点产品共建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2786278-092C-4864-8832-00FE941E8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62" y="991556"/>
            <a:ext cx="11390476" cy="5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53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199456" y="319481"/>
            <a:ext cx="5545381" cy="672075"/>
          </a:xfrm>
        </p:spPr>
        <p:txBody>
          <a:bodyPr>
            <a:normAutofit/>
          </a:bodyPr>
          <a:lstStyle/>
          <a:p>
            <a:pPr algn="l"/>
            <a:r>
              <a:rPr lang="zh-CN" altLang="en-US" b="1" i="0" dirty="0">
                <a:solidFill>
                  <a:srgbClr val="0F4C81"/>
                </a:solidFill>
                <a:effectLst/>
                <a:latin typeface="PingFang SC"/>
              </a:rPr>
              <a:t>已有静态门控局限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AD5ED4-195E-455D-A915-37489A4CE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8" y="991556"/>
            <a:ext cx="11457143" cy="5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5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3445</TotalTime>
  <Words>504</Words>
  <Application>Microsoft Office PowerPoint</Application>
  <PresentationFormat>宽屏</PresentationFormat>
  <Paragraphs>120</Paragraphs>
  <Slides>15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PingFang SC</vt:lpstr>
      <vt:lpstr>等线</vt:lpstr>
      <vt:lpstr>等线 Light</vt:lpstr>
      <vt:lpstr>Microsoft YaHei</vt:lpstr>
      <vt:lpstr>Microsoft YaHei</vt:lpstr>
      <vt:lpstr>Arial</vt:lpstr>
      <vt:lpstr>Office 主题​​</vt:lpstr>
      <vt:lpstr>AI研发门控体系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陈奕名</dc:creator>
  <cp:lastModifiedBy>陈奕名</cp:lastModifiedBy>
  <cp:revision>152</cp:revision>
  <dcterms:created xsi:type="dcterms:W3CDTF">2026-07-28T09:26:16Z</dcterms:created>
  <dcterms:modified xsi:type="dcterms:W3CDTF">2026-08-12T07:54:39Z</dcterms:modified>
</cp:coreProperties>
</file>